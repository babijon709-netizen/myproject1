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" name="shape"/>
          <p:cNvSpPr/>
          <p:nvPr/>
        </p:nvSpPr>
        <p:spPr>
          <a:xfrm>
            <a:off x="7818120" y="-1097280"/>
            <a:ext cx="5852160" cy="9144000"/>
          </a:xfrm>
          <a:prstGeom prst="rect">
            <a:avLst/>
          </a:prstGeom>
          <a:solidFill>
            <a:srgbClr val="18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4" name="shape"/>
          <p:cNvSpPr/>
          <p:nvPr/>
        </p:nvSpPr>
        <p:spPr>
          <a:xfrm>
            <a:off x="9710928" y="-1097280"/>
            <a:ext cx="3657600" cy="9144000"/>
          </a:xfrm>
          <a:prstGeom prst="rect">
            <a:avLst/>
          </a:prstGeom>
          <a:solidFill>
            <a:srgbClr val="244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5" name="shape"/>
          <p:cNvSpPr/>
          <p:nvPr/>
        </p:nvSpPr>
        <p:spPr>
          <a:xfrm>
            <a:off x="0" y="0"/>
            <a:ext cx="105156" cy="6858000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6" name="shape"/>
          <p:cNvSpPr/>
          <p:nvPr/>
        </p:nvSpPr>
        <p:spPr>
          <a:xfrm>
            <a:off x="10058400" y="1307591"/>
            <a:ext cx="1133856" cy="1133856"/>
          </a:xfrm>
          <a:prstGeom prst="diamond">
            <a:avLst/>
          </a:prstGeom>
          <a:noFill/>
          <a:ln w="19050">
            <a:solidFill>
              <a:srgbClr val="E4CE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7" name="shape"/>
          <p:cNvSpPr/>
          <p:nvPr/>
        </p:nvSpPr>
        <p:spPr>
          <a:xfrm>
            <a:off x="10296144" y="1545336"/>
            <a:ext cx="658368" cy="658368"/>
          </a:xfrm>
          <a:prstGeom prst="diamond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8" name="txt"/>
          <p:cNvSpPr txBox="1"/>
          <p:nvPr/>
        </p:nvSpPr>
        <p:spPr>
          <a:xfrm>
            <a:off x="9253728" y="17190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76-ФЗ</a:t>
            </a:r>
          </a:p>
        </p:txBody>
      </p:sp>
      <p:sp>
        <p:nvSpPr>
          <p:cNvPr id="9" name="txt"/>
          <p:cNvSpPr txBox="1"/>
          <p:nvPr/>
        </p:nvSpPr>
        <p:spPr>
          <a:xfrm>
            <a:off x="868680" y="896112"/>
            <a:ext cx="8412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200">
                <a:solidFill>
                  <a:srgbClr val="E4CE9A"/>
                </a:solidFill>
                <a:latin typeface="Arial"/>
              </a:rPr>
              <a:t>ВОЕННАЯ СЛУЖБА В РОССИЙСКОЙ ФЕДЕРАЦИИ</a:t>
            </a:r>
          </a:p>
        </p:txBody>
      </p:sp>
      <p:sp>
        <p:nvSpPr>
          <p:cNvPr id="10" name="shape"/>
          <p:cNvSpPr/>
          <p:nvPr/>
        </p:nvSpPr>
        <p:spPr>
          <a:xfrm>
            <a:off x="868680" y="1261872"/>
            <a:ext cx="960120" cy="32918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1" name="txt"/>
          <p:cNvSpPr txBox="1"/>
          <p:nvPr/>
        </p:nvSpPr>
        <p:spPr>
          <a:xfrm>
            <a:off x="868680" y="1572768"/>
            <a:ext cx="7863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Права и общие обязанности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военнослужащих в РФ</a:t>
            </a:r>
          </a:p>
        </p:txBody>
      </p:sp>
      <p:sp>
        <p:nvSpPr>
          <p:cNvPr id="12" name="txt"/>
          <p:cNvSpPr txBox="1"/>
          <p:nvPr/>
        </p:nvSpPr>
        <p:spPr>
          <a:xfrm>
            <a:off x="868680" y="3163824"/>
            <a:ext cx="7040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8D6E4"/>
                </a:solidFill>
                <a:latin typeface="Arial"/>
              </a:rPr>
              <a:t>Правовые основы статуса, воинский долг, социальные гарантии и ответственность участников военной службы</a:t>
            </a:r>
          </a:p>
        </p:txBody>
      </p:sp>
      <p:sp>
        <p:nvSpPr>
          <p:cNvPr id="13" name="shape"/>
          <p:cNvSpPr/>
          <p:nvPr/>
        </p:nvSpPr>
        <p:spPr>
          <a:xfrm>
            <a:off x="868680" y="4498848"/>
            <a:ext cx="2743200" cy="12801"/>
          </a:xfrm>
          <a:prstGeom prst="rect">
            <a:avLst/>
          </a:prstGeom>
          <a:solidFill>
            <a:srgbClr val="3A5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4" name="txt"/>
          <p:cNvSpPr txBox="1"/>
          <p:nvPr/>
        </p:nvSpPr>
        <p:spPr>
          <a:xfrm>
            <a:off x="868680" y="465429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E4CE9A"/>
                </a:solidFill>
                <a:latin typeface="Arial"/>
              </a:rPr>
              <a:t>ПРАВОВАЯ ОСНОВА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868680" y="4928616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D6E4"/>
                </a:solidFill>
                <a:latin typeface="Arial"/>
              </a:rPr>
              <a:t>Федеральный закон № 76-ФЗ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D6E4"/>
                </a:solidFill>
                <a:latin typeface="Arial"/>
              </a:rPr>
              <a:t>«О статусе военнослужащих»,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D6E4"/>
                </a:solidFill>
                <a:latin typeface="Arial"/>
              </a:rPr>
              <a:t>Конституция РФ, общевоинские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D6E4"/>
                </a:solidFill>
                <a:latin typeface="Arial"/>
              </a:rPr>
              <a:t>уставы ВС РФ</a:t>
            </a:r>
          </a:p>
        </p:txBody>
      </p:sp>
      <p:sp>
        <p:nvSpPr>
          <p:cNvPr id="16" name="shape"/>
          <p:cNvSpPr/>
          <p:nvPr/>
        </p:nvSpPr>
        <p:spPr>
          <a:xfrm>
            <a:off x="3931920" y="4498848"/>
            <a:ext cx="2743200" cy="12801"/>
          </a:xfrm>
          <a:prstGeom prst="rect">
            <a:avLst/>
          </a:prstGeom>
          <a:solidFill>
            <a:srgbClr val="3A5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7" name="txt"/>
          <p:cNvSpPr txBox="1"/>
          <p:nvPr/>
        </p:nvSpPr>
        <p:spPr>
          <a:xfrm>
            <a:off x="3931920" y="465429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E4CE9A"/>
                </a:solidFill>
                <a:latin typeface="Arial"/>
              </a:rPr>
              <a:t>СТРУКТУРА</a:t>
            </a:r>
          </a:p>
        </p:txBody>
      </p:sp>
      <p:sp>
        <p:nvSpPr>
          <p:cNvPr id="18" name="txt"/>
          <p:cNvSpPr txBox="1"/>
          <p:nvPr/>
        </p:nvSpPr>
        <p:spPr>
          <a:xfrm>
            <a:off x="3931920" y="4928616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D6E4"/>
                </a:solidFill>
                <a:latin typeface="Arial"/>
              </a:rPr>
              <a:t>10 слайдов: обязанности, права,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D6E4"/>
                </a:solidFill>
                <a:latin typeface="Arial"/>
              </a:rPr>
              <a:t>политические ограничения,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D6E4"/>
                </a:solidFill>
                <a:latin typeface="Arial"/>
              </a:rPr>
              <a:t>ответственность</a:t>
            </a:r>
          </a:p>
        </p:txBody>
      </p:sp>
      <p:sp>
        <p:nvSpPr>
          <p:cNvPr id="19" name="shape"/>
          <p:cNvSpPr/>
          <p:nvPr/>
        </p:nvSpPr>
        <p:spPr>
          <a:xfrm>
            <a:off x="6995160" y="4498848"/>
            <a:ext cx="2743200" cy="12801"/>
          </a:xfrm>
          <a:prstGeom prst="rect">
            <a:avLst/>
          </a:prstGeom>
          <a:solidFill>
            <a:srgbClr val="3A5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0" name="txt"/>
          <p:cNvSpPr txBox="1"/>
          <p:nvPr/>
        </p:nvSpPr>
        <p:spPr>
          <a:xfrm>
            <a:off x="6995160" y="465429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E4CE9A"/>
                </a:solidFill>
                <a:latin typeface="Arial"/>
              </a:rPr>
              <a:t>ОФОРМЛЕНИЕ</a:t>
            </a:r>
          </a:p>
        </p:txBody>
      </p:sp>
      <p:sp>
        <p:nvSpPr>
          <p:cNvPr id="21" name="txt"/>
          <p:cNvSpPr txBox="1"/>
          <p:nvPr/>
        </p:nvSpPr>
        <p:spPr>
          <a:xfrm>
            <a:off x="6995160" y="4928616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D6E4"/>
                </a:solidFill>
                <a:latin typeface="Arial"/>
              </a:rPr>
              <a:t>Строгий деловой стиль,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D6E4"/>
                </a:solidFill>
                <a:latin typeface="Arial"/>
              </a:rPr>
              <a:t>без изображений и иллюстраций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868680" y="6291072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69EBA"/>
                </a:solidFill>
                <a:latin typeface="Arial"/>
              </a:rPr>
              <a:t>Учебная презентация · формулировки — по действующей редакции закона</a:t>
            </a:r>
          </a:p>
        </p:txBody>
      </p:sp>
      <p:sp>
        <p:nvSpPr>
          <p:cNvPr id="23" name="txt"/>
          <p:cNvSpPr txBox="1"/>
          <p:nvPr/>
        </p:nvSpPr>
        <p:spPr>
          <a:xfrm>
            <a:off x="10088849" y="6291072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CE9A"/>
                </a:solidFill>
                <a:latin typeface="Arial"/>
              </a:rPr>
              <a:t>01</a:t>
            </a:r>
            <a:r>
              <a:rPr sz="950" b="0" i="0">
                <a:solidFill>
                  <a:srgbClr val="869EBA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" name="shape"/>
          <p:cNvSpPr/>
          <p:nvPr/>
        </p:nvSpPr>
        <p:spPr>
          <a:xfrm>
            <a:off x="0" y="0"/>
            <a:ext cx="105156" cy="6858000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4" name="shape"/>
          <p:cNvSpPr/>
          <p:nvPr/>
        </p:nvSpPr>
        <p:spPr>
          <a:xfrm>
            <a:off x="0" y="0"/>
            <a:ext cx="105156" cy="1965960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5" name="txt"/>
          <p:cNvSpPr txBox="1"/>
          <p:nvPr/>
        </p:nvSpPr>
        <p:spPr>
          <a:xfrm>
            <a:off x="10774649" y="365760"/>
            <a:ext cx="8503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7DFE8"/>
                </a:solidFill>
                <a:latin typeface="Arial"/>
              </a:rPr>
              <a:t>02</a:t>
            </a:r>
          </a:p>
        </p:txBody>
      </p:sp>
      <p:sp>
        <p:nvSpPr>
          <p:cNvPr id="6" name="txt"/>
          <p:cNvSpPr txBox="1"/>
          <p:nvPr/>
        </p:nvSpPr>
        <p:spPr>
          <a:xfrm>
            <a:off x="786384" y="41148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B7B8C"/>
                </a:solidFill>
                <a:latin typeface="Arial"/>
              </a:rPr>
              <a:t>НОРМАТИВНЫЕ АКТЫ</a:t>
            </a:r>
          </a:p>
        </p:txBody>
      </p:sp>
      <p:sp>
        <p:nvSpPr>
          <p:cNvPr id="7" name="txt"/>
          <p:cNvSpPr txBox="1"/>
          <p:nvPr/>
        </p:nvSpPr>
        <p:spPr>
          <a:xfrm>
            <a:off x="786384" y="6583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E2545"/>
                </a:solidFill>
                <a:latin typeface="Arial"/>
              </a:rPr>
              <a:t>Правовая основа статуса военнослужащего</a:t>
            </a:r>
          </a:p>
        </p:txBody>
      </p:sp>
      <p:sp>
        <p:nvSpPr>
          <p:cNvPr id="8" name="shape"/>
          <p:cNvSpPr/>
          <p:nvPr/>
        </p:nvSpPr>
        <p:spPr>
          <a:xfrm>
            <a:off x="786384" y="1216152"/>
            <a:ext cx="786384" cy="32918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9" name="shape"/>
          <p:cNvSpPr/>
          <p:nvPr/>
        </p:nvSpPr>
        <p:spPr>
          <a:xfrm>
            <a:off x="1627632" y="1229868"/>
            <a:ext cx="9997409" cy="12801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0" name="txt"/>
          <p:cNvSpPr txBox="1"/>
          <p:nvPr/>
        </p:nvSpPr>
        <p:spPr>
          <a:xfrm>
            <a:off x="786384" y="1481328"/>
            <a:ext cx="1083865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Статус военнослужащего — совокупность прав, свобод, обязанностей и ответственности, закреплённых Конституцией РФ, федеральными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законами и общевоинскими уставами.</a:t>
            </a:r>
          </a:p>
        </p:txBody>
      </p:sp>
      <p:sp>
        <p:nvSpPr>
          <p:cNvPr id="11" name="card"/>
          <p:cNvSpPr/>
          <p:nvPr/>
        </p:nvSpPr>
        <p:spPr>
          <a:xfrm>
            <a:off x="786384" y="2075688"/>
            <a:ext cx="5309600" cy="1490223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2" name="shape"/>
          <p:cNvSpPr/>
          <p:nvPr/>
        </p:nvSpPr>
        <p:spPr>
          <a:xfrm>
            <a:off x="786384" y="2075688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3" name="txt"/>
          <p:cNvSpPr txBox="1"/>
          <p:nvPr/>
        </p:nvSpPr>
        <p:spPr>
          <a:xfrm>
            <a:off x="978408" y="2249424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ФЗ № 76-ФЗ «О статусе военнослужащих»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1161288" y="2505456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27.05.1998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базовый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закон,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который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определяет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права,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свободы,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обязанности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социальную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защиту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военнослужащих.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1161288" y="2874873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Ст.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1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понятия: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воинская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обязанность,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воинский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долг,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служба;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ст.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2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общие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обязанности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правовая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защита.</a:t>
            </a:r>
          </a:p>
        </p:txBody>
      </p:sp>
      <p:sp>
        <p:nvSpPr>
          <p:cNvPr id="16" name="txt"/>
          <p:cNvSpPr txBox="1"/>
          <p:nvPr/>
        </p:nvSpPr>
        <p:spPr>
          <a:xfrm>
            <a:off x="1161288" y="3244291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Разделы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II–IV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социально-экономические,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личные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гарантии,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ответственность.</a:t>
            </a:r>
          </a:p>
        </p:txBody>
      </p:sp>
      <p:sp>
        <p:nvSpPr>
          <p:cNvPr id="17" name="card"/>
          <p:cNvSpPr/>
          <p:nvPr/>
        </p:nvSpPr>
        <p:spPr>
          <a:xfrm>
            <a:off x="6315440" y="2075688"/>
            <a:ext cx="5309600" cy="1490223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8" name="shape"/>
          <p:cNvSpPr/>
          <p:nvPr/>
        </p:nvSpPr>
        <p:spPr>
          <a:xfrm>
            <a:off x="6315440" y="2075688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9" name="txt"/>
          <p:cNvSpPr txBox="1"/>
          <p:nvPr/>
        </p:nvSpPr>
        <p:spPr>
          <a:xfrm>
            <a:off x="6507464" y="2249424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Конституция Российской Федерации</a:t>
            </a:r>
          </a:p>
        </p:txBody>
      </p:sp>
      <p:sp>
        <p:nvSpPr>
          <p:cNvPr id="20" name="txt"/>
          <p:cNvSpPr txBox="1"/>
          <p:nvPr/>
        </p:nvSpPr>
        <p:spPr>
          <a:xfrm>
            <a:off x="6690344" y="2505456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Ст.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59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защита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Отечества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долг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обязанность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гражданина;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военная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служба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особый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вид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службы.</a:t>
            </a:r>
          </a:p>
        </p:txBody>
      </p:sp>
      <p:sp>
        <p:nvSpPr>
          <p:cNvPr id="21" name="txt"/>
          <p:cNvSpPr txBox="1"/>
          <p:nvPr/>
        </p:nvSpPr>
        <p:spPr>
          <a:xfrm>
            <a:off x="6690344" y="2874873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Ст.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2,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17–19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свободы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имеют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прямое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действие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гарантируются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государством.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6690344" y="3244291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Ограничения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допустимы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только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как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следствие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специфики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закреплены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федеральным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законом.</a:t>
            </a:r>
          </a:p>
        </p:txBody>
      </p:sp>
      <p:sp>
        <p:nvSpPr>
          <p:cNvPr id="23" name="card"/>
          <p:cNvSpPr/>
          <p:nvPr/>
        </p:nvSpPr>
        <p:spPr>
          <a:xfrm>
            <a:off x="786384" y="3730503"/>
            <a:ext cx="5309600" cy="1490223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4" name="shape"/>
          <p:cNvSpPr/>
          <p:nvPr/>
        </p:nvSpPr>
        <p:spPr>
          <a:xfrm>
            <a:off x="786384" y="3730503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5" name="txt"/>
          <p:cNvSpPr txBox="1"/>
          <p:nvPr/>
        </p:nvSpPr>
        <p:spPr>
          <a:xfrm>
            <a:off x="978408" y="3904239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Общевоинские уставы ВС РФ</a:t>
            </a:r>
          </a:p>
        </p:txBody>
      </p:sp>
      <p:sp>
        <p:nvSpPr>
          <p:cNvPr id="26" name="txt"/>
          <p:cNvSpPr txBox="1"/>
          <p:nvPr/>
        </p:nvSpPr>
        <p:spPr>
          <a:xfrm>
            <a:off x="1161288" y="4160271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Устав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внутренней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службы: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общие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обязанности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военнослужащих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(ст.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29)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обязанности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гарнизонной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службе.</a:t>
            </a:r>
          </a:p>
        </p:txBody>
      </p:sp>
      <p:sp>
        <p:nvSpPr>
          <p:cNvPr id="27" name="txt"/>
          <p:cNvSpPr txBox="1"/>
          <p:nvPr/>
        </p:nvSpPr>
        <p:spPr>
          <a:xfrm>
            <a:off x="1161288" y="4529688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Дисциплинарный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устав: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воинская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слава,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доблесть,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честь;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порядок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поддержания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дисциплины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взыскания.</a:t>
            </a:r>
          </a:p>
        </p:txBody>
      </p:sp>
      <p:sp>
        <p:nvSpPr>
          <p:cNvPr id="28" name="txt"/>
          <p:cNvSpPr txBox="1"/>
          <p:nvPr/>
        </p:nvSpPr>
        <p:spPr>
          <a:xfrm>
            <a:off x="1161288" y="4899106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Устав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гарнизонной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караульной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Строевой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устав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повседневная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деятельность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подразделения.</a:t>
            </a:r>
          </a:p>
        </p:txBody>
      </p:sp>
      <p:sp>
        <p:nvSpPr>
          <p:cNvPr id="29" name="card"/>
          <p:cNvSpPr/>
          <p:nvPr/>
        </p:nvSpPr>
        <p:spPr>
          <a:xfrm>
            <a:off x="6315440" y="3730503"/>
            <a:ext cx="5309600" cy="1490223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0" name="shape"/>
          <p:cNvSpPr/>
          <p:nvPr/>
        </p:nvSpPr>
        <p:spPr>
          <a:xfrm>
            <a:off x="6315440" y="3730503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1" name="txt"/>
          <p:cNvSpPr txBox="1"/>
          <p:nvPr/>
        </p:nvSpPr>
        <p:spPr>
          <a:xfrm>
            <a:off x="6507464" y="3904239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Иные акты, определяющие статус</a:t>
            </a:r>
          </a:p>
        </p:txBody>
      </p:sp>
      <p:sp>
        <p:nvSpPr>
          <p:cNvPr id="32" name="txt"/>
          <p:cNvSpPr txBox="1"/>
          <p:nvPr/>
        </p:nvSpPr>
        <p:spPr>
          <a:xfrm>
            <a:off x="6690344" y="4160271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ФЗ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№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53-ФЗ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«О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воинской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обязанности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службе»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условия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порядок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прохождения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службы.</a:t>
            </a:r>
          </a:p>
        </p:txBody>
      </p:sp>
      <p:sp>
        <p:nvSpPr>
          <p:cNvPr id="33" name="txt"/>
          <p:cNvSpPr txBox="1"/>
          <p:nvPr/>
        </p:nvSpPr>
        <p:spPr>
          <a:xfrm>
            <a:off x="6690344" y="4529688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ФЗ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«Об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обороне»,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ФЗ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№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117-ФЗ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(военная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ипотека),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Закон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№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2159-1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(государственная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тайна).</a:t>
            </a:r>
          </a:p>
        </p:txBody>
      </p:sp>
      <p:sp>
        <p:nvSpPr>
          <p:cNvPr id="34" name="txt"/>
          <p:cNvSpPr txBox="1"/>
          <p:nvPr/>
        </p:nvSpPr>
        <p:spPr>
          <a:xfrm>
            <a:off x="6690344" y="4899106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Указы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Президента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постановления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Правительства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приказы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Минобороны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России;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КоАП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РФ.</a:t>
            </a:r>
          </a:p>
        </p:txBody>
      </p:sp>
      <p:sp>
        <p:nvSpPr>
          <p:cNvPr id="35" name="note"/>
          <p:cNvSpPr/>
          <p:nvPr/>
        </p:nvSpPr>
        <p:spPr>
          <a:xfrm>
            <a:off x="786384" y="5458470"/>
            <a:ext cx="10838657" cy="744093"/>
          </a:xfrm>
          <a:prstGeom prst="rect">
            <a:avLst/>
          </a:prstGeom>
          <a:solidFill>
            <a:srgbClr val="F7F9FB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6" name="txt"/>
          <p:cNvSpPr txBox="1"/>
          <p:nvPr/>
        </p:nvSpPr>
        <p:spPr>
          <a:xfrm>
            <a:off x="978408" y="558648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0E2545"/>
                </a:solidFill>
                <a:latin typeface="Arial"/>
              </a:rPr>
              <a:t>ПРАВОВАЯ БАЗА</a:t>
            </a:r>
          </a:p>
        </p:txBody>
      </p:sp>
      <p:sp>
        <p:nvSpPr>
          <p:cNvPr id="37" name="txt"/>
          <p:cNvSpPr txBox="1"/>
          <p:nvPr/>
        </p:nvSpPr>
        <p:spPr>
          <a:xfrm>
            <a:off x="978408" y="5824230"/>
            <a:ext cx="1045460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29A3E"/>
                </a:solidFill>
                <a:latin typeface="Arial"/>
              </a:rPr>
              <a:t>§ 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Действующая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редакция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ФЗ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№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76-ФЗ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первоисточник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формулировок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(КонсультантПлюс,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Гарант).</a:t>
            </a:r>
          </a:p>
        </p:txBody>
      </p:sp>
      <p:sp>
        <p:nvSpPr>
          <p:cNvPr id="38" name="txt"/>
          <p:cNvSpPr txBox="1"/>
          <p:nvPr/>
        </p:nvSpPr>
        <p:spPr>
          <a:xfrm>
            <a:off x="978408" y="6059117"/>
            <a:ext cx="1045460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29A3E"/>
                </a:solidFill>
                <a:latin typeface="Arial"/>
              </a:rPr>
              <a:t>§ 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Общевоинские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уставы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ВС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РФ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утверждены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Указом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Президента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РФ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от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10.11.2007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№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1495.</a:t>
            </a:r>
          </a:p>
        </p:txBody>
      </p:sp>
      <p:sp>
        <p:nvSpPr>
          <p:cNvPr id="39" name="shape"/>
          <p:cNvSpPr/>
          <p:nvPr/>
        </p:nvSpPr>
        <p:spPr>
          <a:xfrm>
            <a:off x="786384" y="6428232"/>
            <a:ext cx="10838657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40" name="txt"/>
          <p:cNvSpPr txBox="1"/>
          <p:nvPr/>
        </p:nvSpPr>
        <p:spPr>
          <a:xfrm>
            <a:off x="786384" y="65196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C4CF"/>
                </a:solidFill>
                <a:latin typeface="Arial"/>
              </a:rPr>
              <a:t>Права и общие обязанности военнослужащих в РФ</a:t>
            </a:r>
            <a:r>
              <a:rPr sz="900" b="0" i="0">
                <a:solidFill>
                  <a:srgbClr val="6B7B8C"/>
                </a:solidFill>
                <a:latin typeface="Arial"/>
              </a:rPr>
              <a:t>   ·   Правовая основа</a:t>
            </a:r>
          </a:p>
        </p:txBody>
      </p:sp>
      <p:sp>
        <p:nvSpPr>
          <p:cNvPr id="41" name="txt"/>
          <p:cNvSpPr txBox="1"/>
          <p:nvPr/>
        </p:nvSpPr>
        <p:spPr>
          <a:xfrm>
            <a:off x="10162001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9A3E"/>
                </a:solidFill>
                <a:latin typeface="Arial"/>
              </a:rPr>
              <a:t>02</a:t>
            </a:r>
            <a:r>
              <a:rPr sz="900" b="0" i="0">
                <a:solidFill>
                  <a:srgbClr val="B9C4CF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" name="shape"/>
          <p:cNvSpPr/>
          <p:nvPr/>
        </p:nvSpPr>
        <p:spPr>
          <a:xfrm>
            <a:off x="0" y="0"/>
            <a:ext cx="105156" cy="6858000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4" name="shape"/>
          <p:cNvSpPr/>
          <p:nvPr/>
        </p:nvSpPr>
        <p:spPr>
          <a:xfrm>
            <a:off x="0" y="0"/>
            <a:ext cx="105156" cy="1965960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5" name="txt"/>
          <p:cNvSpPr txBox="1"/>
          <p:nvPr/>
        </p:nvSpPr>
        <p:spPr>
          <a:xfrm>
            <a:off x="10774649" y="365760"/>
            <a:ext cx="8503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7DFE8"/>
                </a:solidFill>
                <a:latin typeface="Arial"/>
              </a:rPr>
              <a:t>03</a:t>
            </a:r>
          </a:p>
        </p:txBody>
      </p:sp>
      <p:sp>
        <p:nvSpPr>
          <p:cNvPr id="6" name="txt"/>
          <p:cNvSpPr txBox="1"/>
          <p:nvPr/>
        </p:nvSpPr>
        <p:spPr>
          <a:xfrm>
            <a:off x="786384" y="41148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B7B8C"/>
                </a:solidFill>
                <a:latin typeface="Arial"/>
              </a:rPr>
              <a:t>ВОИНСКИЙ ДОЛГ</a:t>
            </a:r>
          </a:p>
        </p:txBody>
      </p:sp>
      <p:sp>
        <p:nvSpPr>
          <p:cNvPr id="7" name="txt"/>
          <p:cNvSpPr txBox="1"/>
          <p:nvPr/>
        </p:nvSpPr>
        <p:spPr>
          <a:xfrm>
            <a:off x="786384" y="6583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E2545"/>
                </a:solidFill>
                <a:latin typeface="Arial"/>
              </a:rPr>
              <a:t>Сущность воинского долга и назначения службы</a:t>
            </a:r>
          </a:p>
        </p:txBody>
      </p:sp>
      <p:sp>
        <p:nvSpPr>
          <p:cNvPr id="8" name="shape"/>
          <p:cNvSpPr/>
          <p:nvPr/>
        </p:nvSpPr>
        <p:spPr>
          <a:xfrm>
            <a:off x="786384" y="1216152"/>
            <a:ext cx="786384" cy="32918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9" name="shape"/>
          <p:cNvSpPr/>
          <p:nvPr/>
        </p:nvSpPr>
        <p:spPr>
          <a:xfrm>
            <a:off x="1627632" y="1229868"/>
            <a:ext cx="9997409" cy="12801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0" name="txt"/>
          <p:cNvSpPr txBox="1"/>
          <p:nvPr/>
        </p:nvSpPr>
        <p:spPr>
          <a:xfrm>
            <a:off x="786384" y="1481328"/>
            <a:ext cx="1083865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Воинский долг — признанная и принятая военнослужащим необходимость достойного исполнения обязанностей военной службы во имя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защиты Отечества.</a:t>
            </a:r>
          </a:p>
        </p:txBody>
      </p:sp>
      <p:sp>
        <p:nvSpPr>
          <p:cNvPr id="11" name="card"/>
          <p:cNvSpPr/>
          <p:nvPr/>
        </p:nvSpPr>
        <p:spPr>
          <a:xfrm>
            <a:off x="786384" y="2567749"/>
            <a:ext cx="3466581" cy="2176272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2" name="shape"/>
          <p:cNvSpPr/>
          <p:nvPr/>
        </p:nvSpPr>
        <p:spPr>
          <a:xfrm>
            <a:off x="786384" y="2567749"/>
            <a:ext cx="3466581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3" name="txt"/>
          <p:cNvSpPr txBox="1"/>
          <p:nvPr/>
        </p:nvSpPr>
        <p:spPr>
          <a:xfrm>
            <a:off x="978408" y="2741485"/>
            <a:ext cx="3082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Защита Отечества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1161288" y="2997517"/>
            <a:ext cx="289965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Конституция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(ст.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59):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защита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Отечества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долг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обязанность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гражданина.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1161288" y="3366935"/>
            <a:ext cx="289965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направлена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реализацию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ст.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59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87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Конституции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оборона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страны.</a:t>
            </a:r>
          </a:p>
        </p:txBody>
      </p:sp>
      <p:sp>
        <p:nvSpPr>
          <p:cNvPr id="16" name="txt"/>
          <p:cNvSpPr txBox="1"/>
          <p:nvPr/>
        </p:nvSpPr>
        <p:spPr>
          <a:xfrm>
            <a:off x="1161288" y="3736352"/>
            <a:ext cx="2899653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Верность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присяге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(контракту)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личное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обязательство,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которого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начинается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служба.</a:t>
            </a:r>
          </a:p>
        </p:txBody>
      </p:sp>
      <p:sp>
        <p:nvSpPr>
          <p:cNvPr id="17" name="card"/>
          <p:cNvSpPr/>
          <p:nvPr/>
        </p:nvSpPr>
        <p:spPr>
          <a:xfrm>
            <a:off x="4472421" y="2567749"/>
            <a:ext cx="3466581" cy="2176272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8" name="shape"/>
          <p:cNvSpPr/>
          <p:nvPr/>
        </p:nvSpPr>
        <p:spPr>
          <a:xfrm>
            <a:off x="4472421" y="2567749"/>
            <a:ext cx="3466581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9" name="txt"/>
          <p:cNvSpPr txBox="1"/>
          <p:nvPr/>
        </p:nvSpPr>
        <p:spPr>
          <a:xfrm>
            <a:off x="4664445" y="2741485"/>
            <a:ext cx="3082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Безопасность государства</a:t>
            </a:r>
          </a:p>
        </p:txBody>
      </p:sp>
      <p:sp>
        <p:nvSpPr>
          <p:cNvPr id="20" name="txt"/>
          <p:cNvSpPr txBox="1"/>
          <p:nvPr/>
        </p:nvSpPr>
        <p:spPr>
          <a:xfrm>
            <a:off x="4847325" y="2997517"/>
            <a:ext cx="2899653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Отражение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вооружённого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нападения,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защита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суверенитета,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независимости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территориальной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целостности.</a:t>
            </a:r>
          </a:p>
        </p:txBody>
      </p:sp>
      <p:sp>
        <p:nvSpPr>
          <p:cNvPr id="21" name="txt"/>
          <p:cNvSpPr txBox="1"/>
          <p:nvPr/>
        </p:nvSpPr>
        <p:spPr>
          <a:xfrm>
            <a:off x="4847325" y="3527869"/>
            <a:ext cx="2899653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Обеспечение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безопасности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функция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ВС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иных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войск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(ФЗ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«Об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обороне»).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4847325" y="4058221"/>
            <a:ext cx="2899653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Поддержание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боевой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готовности,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содействие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безопасности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чрезвычайных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ситуациях.</a:t>
            </a:r>
          </a:p>
        </p:txBody>
      </p:sp>
      <p:sp>
        <p:nvSpPr>
          <p:cNvPr id="23" name="card"/>
          <p:cNvSpPr/>
          <p:nvPr/>
        </p:nvSpPr>
        <p:spPr>
          <a:xfrm>
            <a:off x="8158459" y="2567749"/>
            <a:ext cx="3466581" cy="2176272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4" name="shape"/>
          <p:cNvSpPr/>
          <p:nvPr/>
        </p:nvSpPr>
        <p:spPr>
          <a:xfrm>
            <a:off x="8158459" y="2567749"/>
            <a:ext cx="3466581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5" name="txt"/>
          <p:cNvSpPr txBox="1"/>
          <p:nvPr/>
        </p:nvSpPr>
        <p:spPr>
          <a:xfrm>
            <a:off x="8350483" y="2741485"/>
            <a:ext cx="3082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Международные обязательства</a:t>
            </a:r>
          </a:p>
        </p:txBody>
      </p:sp>
      <p:sp>
        <p:nvSpPr>
          <p:cNvPr id="26" name="txt"/>
          <p:cNvSpPr txBox="1"/>
          <p:nvPr/>
        </p:nvSpPr>
        <p:spPr>
          <a:xfrm>
            <a:off x="8533363" y="2997517"/>
            <a:ext cx="2899653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Участие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операциях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поддержанию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восстановлению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мира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международным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договорам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РФ.</a:t>
            </a:r>
          </a:p>
        </p:txBody>
      </p:sp>
      <p:sp>
        <p:nvSpPr>
          <p:cNvPr id="27" name="txt"/>
          <p:cNvSpPr txBox="1"/>
          <p:nvPr/>
        </p:nvSpPr>
        <p:spPr>
          <a:xfrm>
            <a:off x="8533363" y="3527869"/>
            <a:ext cx="2899653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Решение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применении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ВС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пределами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страны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принимает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Совет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Федерации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представлению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Президента.</a:t>
            </a:r>
          </a:p>
        </p:txBody>
      </p:sp>
      <p:sp>
        <p:nvSpPr>
          <p:cNvPr id="28" name="txt"/>
          <p:cNvSpPr txBox="1"/>
          <p:nvPr/>
        </p:nvSpPr>
        <p:spPr>
          <a:xfrm>
            <a:off x="8533363" y="4058221"/>
            <a:ext cx="2899653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Взаимодействие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рамках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ОДКБ,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совместные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учения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мероприятия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боевой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подготовки.</a:t>
            </a:r>
          </a:p>
        </p:txBody>
      </p:sp>
      <p:sp>
        <p:nvSpPr>
          <p:cNvPr id="29" name="note"/>
          <p:cNvSpPr/>
          <p:nvPr/>
        </p:nvSpPr>
        <p:spPr>
          <a:xfrm>
            <a:off x="786384" y="4963477"/>
            <a:ext cx="10838657" cy="59817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0" name="shape"/>
          <p:cNvSpPr/>
          <p:nvPr/>
        </p:nvSpPr>
        <p:spPr>
          <a:xfrm>
            <a:off x="786384" y="4963477"/>
            <a:ext cx="50292" cy="598170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1" name="txt"/>
          <p:cNvSpPr txBox="1"/>
          <p:nvPr/>
        </p:nvSpPr>
        <p:spPr>
          <a:xfrm>
            <a:off x="1060704" y="5073205"/>
            <a:ext cx="10290017" cy="5981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80">
                <a:solidFill>
                  <a:srgbClr val="0E2545"/>
                </a:solidFill>
                <a:latin typeface="Arial"/>
              </a:rPr>
              <a:t>ВЫВОД</a:t>
            </a:r>
            <a:r>
              <a:rPr sz="1050" b="0" i="0">
                <a:solidFill>
                  <a:srgbClr val="0E2545"/>
                </a:solidFill>
                <a:latin typeface="Arial"/>
              </a:rPr>
              <a:t>    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а и обязанности военнослужащих производны от назначения военной службы: расширение социальных гарантий компенсирует ограничения, без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5364"/>
                </a:solidFill>
                <a:latin typeface="Arial"/>
              </a:rPr>
              <a:t>которых невозможны единоначалие и готовность к выполнению задач.</a:t>
            </a:r>
          </a:p>
        </p:txBody>
      </p:sp>
      <p:sp>
        <p:nvSpPr>
          <p:cNvPr id="32" name="shape"/>
          <p:cNvSpPr/>
          <p:nvPr/>
        </p:nvSpPr>
        <p:spPr>
          <a:xfrm>
            <a:off x="786384" y="6428232"/>
            <a:ext cx="10838657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3" name="txt"/>
          <p:cNvSpPr txBox="1"/>
          <p:nvPr/>
        </p:nvSpPr>
        <p:spPr>
          <a:xfrm>
            <a:off x="786384" y="65196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C4CF"/>
                </a:solidFill>
                <a:latin typeface="Arial"/>
              </a:rPr>
              <a:t>Права и общие обязанности военнослужащих в РФ</a:t>
            </a:r>
            <a:r>
              <a:rPr sz="900" b="0" i="0">
                <a:solidFill>
                  <a:srgbClr val="6B7B8C"/>
                </a:solidFill>
                <a:latin typeface="Arial"/>
              </a:rPr>
              <a:t>   ·   Сущность воинского долга</a:t>
            </a:r>
          </a:p>
        </p:txBody>
      </p:sp>
      <p:sp>
        <p:nvSpPr>
          <p:cNvPr id="34" name="txt"/>
          <p:cNvSpPr txBox="1"/>
          <p:nvPr/>
        </p:nvSpPr>
        <p:spPr>
          <a:xfrm>
            <a:off x="10162001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9A3E"/>
                </a:solidFill>
                <a:latin typeface="Arial"/>
              </a:rPr>
              <a:t>03</a:t>
            </a:r>
            <a:r>
              <a:rPr sz="900" b="0" i="0">
                <a:solidFill>
                  <a:srgbClr val="B9C4CF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" name="shape"/>
          <p:cNvSpPr/>
          <p:nvPr/>
        </p:nvSpPr>
        <p:spPr>
          <a:xfrm>
            <a:off x="0" y="0"/>
            <a:ext cx="105156" cy="6858000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4" name="shape"/>
          <p:cNvSpPr/>
          <p:nvPr/>
        </p:nvSpPr>
        <p:spPr>
          <a:xfrm>
            <a:off x="0" y="0"/>
            <a:ext cx="105156" cy="1965960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5" name="txt"/>
          <p:cNvSpPr txBox="1"/>
          <p:nvPr/>
        </p:nvSpPr>
        <p:spPr>
          <a:xfrm>
            <a:off x="10774649" y="365760"/>
            <a:ext cx="8503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7DFE8"/>
                </a:solidFill>
                <a:latin typeface="Arial"/>
              </a:rPr>
              <a:t>04</a:t>
            </a:r>
          </a:p>
        </p:txBody>
      </p:sp>
      <p:sp>
        <p:nvSpPr>
          <p:cNvPr id="6" name="txt"/>
          <p:cNvSpPr txBox="1"/>
          <p:nvPr/>
        </p:nvSpPr>
        <p:spPr>
          <a:xfrm>
            <a:off x="786384" y="41148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B7B8C"/>
                </a:solidFill>
                <a:latin typeface="Arial"/>
              </a:rPr>
              <a:t>УСТАВ ВНУТРЕННЕЙ СЛУЖБЫ ВС РФ</a:t>
            </a:r>
          </a:p>
        </p:txBody>
      </p:sp>
      <p:sp>
        <p:nvSpPr>
          <p:cNvPr id="7" name="txt"/>
          <p:cNvSpPr txBox="1"/>
          <p:nvPr/>
        </p:nvSpPr>
        <p:spPr>
          <a:xfrm>
            <a:off x="786384" y="6583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E2545"/>
                </a:solidFill>
                <a:latin typeface="Arial"/>
              </a:rPr>
              <a:t>Общие обязанности военнослужащих</a:t>
            </a:r>
          </a:p>
        </p:txBody>
      </p:sp>
      <p:sp>
        <p:nvSpPr>
          <p:cNvPr id="8" name="shape"/>
          <p:cNvSpPr/>
          <p:nvPr/>
        </p:nvSpPr>
        <p:spPr>
          <a:xfrm>
            <a:off x="786384" y="1216152"/>
            <a:ext cx="786384" cy="32918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9" name="shape"/>
          <p:cNvSpPr/>
          <p:nvPr/>
        </p:nvSpPr>
        <p:spPr>
          <a:xfrm>
            <a:off x="1627632" y="1229868"/>
            <a:ext cx="9997409" cy="12801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0" name="txt"/>
          <p:cNvSpPr txBox="1"/>
          <p:nvPr/>
        </p:nvSpPr>
        <p:spPr>
          <a:xfrm>
            <a:off x="786384" y="1481328"/>
            <a:ext cx="1083865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Касаются каждого военнослужащего независимо от звания, должности и выслуги лет. Их нарушение — дисциплинарный проступок, а 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ряде случаев — правонарушение.</a:t>
            </a:r>
          </a:p>
        </p:txBody>
      </p:sp>
      <p:sp>
        <p:nvSpPr>
          <p:cNvPr id="11" name="panel"/>
          <p:cNvSpPr/>
          <p:nvPr/>
        </p:nvSpPr>
        <p:spPr>
          <a:xfrm>
            <a:off x="786384" y="2075688"/>
            <a:ext cx="10838657" cy="2910077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2" name="txt"/>
          <p:cNvSpPr txBox="1"/>
          <p:nvPr/>
        </p:nvSpPr>
        <p:spPr>
          <a:xfrm>
            <a:off x="1234440" y="2267712"/>
            <a:ext cx="101985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250" b="0" i="0">
                <a:solidFill>
                  <a:srgbClr val="445364"/>
                </a:solidFill>
                <a:latin typeface="Arial"/>
              </a:rPr>
              <a:t>Быть верным Военной присяге (контракту о прохождении военной службы), беззаветно служить народу Российской Федерации,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мужественно и умело защищать Российскую Федерацию.</a:t>
            </a:r>
          </a:p>
        </p:txBody>
      </p:sp>
      <p:sp>
        <p:nvSpPr>
          <p:cNvPr id="13" name="txt"/>
          <p:cNvSpPr txBox="1"/>
          <p:nvPr/>
        </p:nvSpPr>
        <p:spPr>
          <a:xfrm>
            <a:off x="1234440" y="2736549"/>
            <a:ext cx="101985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250" b="0" i="0">
                <a:solidFill>
                  <a:srgbClr val="445364"/>
                </a:solidFill>
                <a:latin typeface="Arial"/>
              </a:rPr>
              <a:t>Строго соблюдать Конституцию и законы Российской Федерации, требования общевоинских уставов, беспрекословно выполнять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приказы командиров (начальников).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1234440" y="3205387"/>
            <a:ext cx="101985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250" b="0" i="0">
                <a:solidFill>
                  <a:srgbClr val="445364"/>
                </a:solidFill>
                <a:latin typeface="Arial"/>
              </a:rPr>
              <a:t>Проявлять дисциплинированность, уважение к воинской чести и добрым именам сослуживцев, неукоснительно соблюдать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воинские обычаи, поддерживать войсковое товарищество.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1234440" y="3674225"/>
            <a:ext cx="101985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250" b="0" i="0">
                <a:solidFill>
                  <a:srgbClr val="445364"/>
                </a:solidFill>
                <a:latin typeface="Arial"/>
              </a:rPr>
              <a:t>Совершенствовать воинское мастерство, постоянно повышать военно-профессиональную квалификацию, знать и беречь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вверенное вооружение и военную технику.</a:t>
            </a:r>
          </a:p>
        </p:txBody>
      </p:sp>
      <p:sp>
        <p:nvSpPr>
          <p:cNvPr id="16" name="txt"/>
          <p:cNvSpPr txBox="1"/>
          <p:nvPr/>
        </p:nvSpPr>
        <p:spPr>
          <a:xfrm>
            <a:off x="1234440" y="4143063"/>
            <a:ext cx="101985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250" b="0" i="0">
                <a:solidFill>
                  <a:srgbClr val="445364"/>
                </a:solidFill>
                <a:latin typeface="Arial"/>
              </a:rPr>
              <a:t>Беречь военное и государственное имущество, грамотно эксплуатировать вооружение и военную технику, поддерживать её в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готовности к применению.</a:t>
            </a:r>
          </a:p>
        </p:txBody>
      </p:sp>
      <p:sp>
        <p:nvSpPr>
          <p:cNvPr id="17" name="txt"/>
          <p:cNvSpPr txBox="1"/>
          <p:nvPr/>
        </p:nvSpPr>
        <p:spPr>
          <a:xfrm>
            <a:off x="1234440" y="4611901"/>
            <a:ext cx="1019857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250" b="0" i="0">
                <a:solidFill>
                  <a:srgbClr val="445364"/>
                </a:solidFill>
                <a:latin typeface="Arial"/>
              </a:rPr>
              <a:t>Хранить государственную и военную тайну; быть бдительным, честно и добросовестно исполнять обязанности военной службы.</a:t>
            </a:r>
          </a:p>
        </p:txBody>
      </p:sp>
      <p:sp>
        <p:nvSpPr>
          <p:cNvPr id="18" name="note"/>
          <p:cNvSpPr/>
          <p:nvPr/>
        </p:nvSpPr>
        <p:spPr>
          <a:xfrm>
            <a:off x="786384" y="5223509"/>
            <a:ext cx="10838657" cy="1104138"/>
          </a:xfrm>
          <a:prstGeom prst="rect">
            <a:avLst/>
          </a:prstGeom>
          <a:solidFill>
            <a:srgbClr val="F7F9FB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9" name="txt"/>
          <p:cNvSpPr txBox="1"/>
          <p:nvPr/>
        </p:nvSpPr>
        <p:spPr>
          <a:xfrm>
            <a:off x="978408" y="5351525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0E2545"/>
                </a:solidFill>
                <a:latin typeface="Arial"/>
              </a:rPr>
              <a:t>ПРАВОВАЯ БАЗА</a:t>
            </a:r>
          </a:p>
        </p:txBody>
      </p:sp>
      <p:sp>
        <p:nvSpPr>
          <p:cNvPr id="20" name="txt"/>
          <p:cNvSpPr txBox="1"/>
          <p:nvPr/>
        </p:nvSpPr>
        <p:spPr>
          <a:xfrm>
            <a:off x="978408" y="5589269"/>
            <a:ext cx="104546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29A3E"/>
                </a:solidFill>
                <a:latin typeface="Arial"/>
              </a:rPr>
              <a:t>§ 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Источник: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ст.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29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Устава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внутренней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службы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ВС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РФ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общие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обязанности;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ст.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2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ФЗ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№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76-ФЗ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правовая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защита,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уважение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чести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достоинства,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5364"/>
                </a:solidFill>
                <a:latin typeface="Arial"/>
              </a:rPr>
              <a:t>ответственность.</a:t>
            </a:r>
          </a:p>
        </p:txBody>
      </p:sp>
      <p:sp>
        <p:nvSpPr>
          <p:cNvPr id="21" name="txt"/>
          <p:cNvSpPr txBox="1"/>
          <p:nvPr/>
        </p:nvSpPr>
        <p:spPr>
          <a:xfrm>
            <a:off x="978408" y="6004178"/>
            <a:ext cx="104546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29A3E"/>
                </a:solidFill>
                <a:latin typeface="Arial"/>
              </a:rPr>
              <a:t>§ 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Кроме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общих,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военнослужащий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исполняет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должностные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(по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занимаемой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должности)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50" b="1" i="0">
                <a:solidFill>
                  <a:srgbClr val="445364"/>
                </a:solidFill>
                <a:latin typeface="Arial"/>
              </a:rPr>
              <a:t>специальные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(караульная,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гарнизонная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службы,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суточный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наряд)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5364"/>
                </a:solidFill>
                <a:latin typeface="Arial"/>
              </a:rPr>
              <a:t>обязанности.</a:t>
            </a:r>
          </a:p>
        </p:txBody>
      </p:sp>
      <p:sp>
        <p:nvSpPr>
          <p:cNvPr id="22" name="shape"/>
          <p:cNvSpPr/>
          <p:nvPr/>
        </p:nvSpPr>
        <p:spPr>
          <a:xfrm>
            <a:off x="786384" y="6428232"/>
            <a:ext cx="10838657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3" name="txt"/>
          <p:cNvSpPr txBox="1"/>
          <p:nvPr/>
        </p:nvSpPr>
        <p:spPr>
          <a:xfrm>
            <a:off x="786384" y="65196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C4CF"/>
                </a:solidFill>
                <a:latin typeface="Arial"/>
              </a:rPr>
              <a:t>Права и общие обязанности военнослужащих в РФ</a:t>
            </a:r>
            <a:r>
              <a:rPr sz="900" b="0" i="0">
                <a:solidFill>
                  <a:srgbClr val="6B7B8C"/>
                </a:solidFill>
                <a:latin typeface="Arial"/>
              </a:rPr>
              <a:t>   ·   Общие обязанности</a:t>
            </a:r>
          </a:p>
        </p:txBody>
      </p:sp>
      <p:sp>
        <p:nvSpPr>
          <p:cNvPr id="24" name="txt"/>
          <p:cNvSpPr txBox="1"/>
          <p:nvPr/>
        </p:nvSpPr>
        <p:spPr>
          <a:xfrm>
            <a:off x="10162001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9A3E"/>
                </a:solidFill>
                <a:latin typeface="Arial"/>
              </a:rPr>
              <a:t>04</a:t>
            </a:r>
            <a:r>
              <a:rPr sz="900" b="0" i="0">
                <a:solidFill>
                  <a:srgbClr val="B9C4CF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" name="shape"/>
          <p:cNvSpPr/>
          <p:nvPr/>
        </p:nvSpPr>
        <p:spPr>
          <a:xfrm>
            <a:off x="0" y="0"/>
            <a:ext cx="105156" cy="6858000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4" name="shape"/>
          <p:cNvSpPr/>
          <p:nvPr/>
        </p:nvSpPr>
        <p:spPr>
          <a:xfrm>
            <a:off x="0" y="0"/>
            <a:ext cx="105156" cy="1965960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5" name="txt"/>
          <p:cNvSpPr txBox="1"/>
          <p:nvPr/>
        </p:nvSpPr>
        <p:spPr>
          <a:xfrm>
            <a:off x="10774649" y="365760"/>
            <a:ext cx="8503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7DFE8"/>
                </a:solidFill>
                <a:latin typeface="Arial"/>
              </a:rPr>
              <a:t>05</a:t>
            </a:r>
          </a:p>
        </p:txBody>
      </p:sp>
      <p:sp>
        <p:nvSpPr>
          <p:cNvPr id="6" name="txt"/>
          <p:cNvSpPr txBox="1"/>
          <p:nvPr/>
        </p:nvSpPr>
        <p:spPr>
          <a:xfrm>
            <a:off x="786384" y="41148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B7B8C"/>
                </a:solidFill>
                <a:latin typeface="Arial"/>
              </a:rPr>
              <a:t>МАСТЕРСТВО, ГОТОВНОСТЬ, ТАЙНА</a:t>
            </a:r>
          </a:p>
        </p:txBody>
      </p:sp>
      <p:sp>
        <p:nvSpPr>
          <p:cNvPr id="7" name="txt"/>
          <p:cNvSpPr txBox="1"/>
          <p:nvPr/>
        </p:nvSpPr>
        <p:spPr>
          <a:xfrm>
            <a:off x="786384" y="6583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E2545"/>
                </a:solidFill>
                <a:latin typeface="Arial"/>
              </a:rPr>
              <a:t>Профессиональные и специальные обязанности</a:t>
            </a:r>
          </a:p>
        </p:txBody>
      </p:sp>
      <p:sp>
        <p:nvSpPr>
          <p:cNvPr id="8" name="shape"/>
          <p:cNvSpPr/>
          <p:nvPr/>
        </p:nvSpPr>
        <p:spPr>
          <a:xfrm>
            <a:off x="786384" y="1216152"/>
            <a:ext cx="786384" cy="32918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9" name="shape"/>
          <p:cNvSpPr/>
          <p:nvPr/>
        </p:nvSpPr>
        <p:spPr>
          <a:xfrm>
            <a:off x="1627632" y="1229868"/>
            <a:ext cx="9997409" cy="12801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0" name="txt"/>
          <p:cNvSpPr txBox="1"/>
          <p:nvPr/>
        </p:nvSpPr>
        <p:spPr>
          <a:xfrm>
            <a:off x="786384" y="1481328"/>
            <a:ext cx="1083865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Объём этих обязанностей определяется должностью, воинским званием, уставными инструкциями и наставлениями по видам службы.</a:t>
            </a:r>
          </a:p>
        </p:txBody>
      </p:sp>
      <p:sp>
        <p:nvSpPr>
          <p:cNvPr id="11" name="card"/>
          <p:cNvSpPr/>
          <p:nvPr/>
        </p:nvSpPr>
        <p:spPr>
          <a:xfrm>
            <a:off x="786384" y="2203658"/>
            <a:ext cx="5309600" cy="1693468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2" name="shape"/>
          <p:cNvSpPr/>
          <p:nvPr/>
        </p:nvSpPr>
        <p:spPr>
          <a:xfrm>
            <a:off x="786384" y="2203658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3" name="txt"/>
          <p:cNvSpPr txBox="1"/>
          <p:nvPr/>
        </p:nvSpPr>
        <p:spPr>
          <a:xfrm>
            <a:off x="978408" y="2377394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Боевая подготовка и мастерство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1161288" y="2633426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Совершенное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овладение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вверенным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вооружением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техникой,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участие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учениях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тренировках.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1161288" y="3002843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Поддержание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постоянной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боевой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готовности;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умение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действовать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условиях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применения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современных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средств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поражения.</a:t>
            </a:r>
          </a:p>
        </p:txBody>
      </p:sp>
      <p:sp>
        <p:nvSpPr>
          <p:cNvPr id="16" name="txt"/>
          <p:cNvSpPr txBox="1"/>
          <p:nvPr/>
        </p:nvSpPr>
        <p:spPr>
          <a:xfrm>
            <a:off x="1161288" y="3372261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Уровень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военно-профессиональной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подготовки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влияет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присвоение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званий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назначение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вышестоящие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должности.</a:t>
            </a:r>
          </a:p>
        </p:txBody>
      </p:sp>
      <p:sp>
        <p:nvSpPr>
          <p:cNvPr id="17" name="card"/>
          <p:cNvSpPr/>
          <p:nvPr/>
        </p:nvSpPr>
        <p:spPr>
          <a:xfrm>
            <a:off x="6315440" y="2203658"/>
            <a:ext cx="5309600" cy="1693468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8" name="shape"/>
          <p:cNvSpPr/>
          <p:nvPr/>
        </p:nvSpPr>
        <p:spPr>
          <a:xfrm>
            <a:off x="6315440" y="2203658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9" name="txt"/>
          <p:cNvSpPr txBox="1"/>
          <p:nvPr/>
        </p:nvSpPr>
        <p:spPr>
          <a:xfrm>
            <a:off x="6507464" y="2377394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Сбережение вооружения и техники</a:t>
            </a:r>
          </a:p>
        </p:txBody>
      </p:sp>
      <p:sp>
        <p:nvSpPr>
          <p:cNvPr id="20" name="txt"/>
          <p:cNvSpPr txBox="1"/>
          <p:nvPr/>
        </p:nvSpPr>
        <p:spPr>
          <a:xfrm>
            <a:off x="6690344" y="2633426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Соблюдение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правил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хранения,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эксплуатации,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технического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обслуживания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ремонта.</a:t>
            </a:r>
          </a:p>
        </p:txBody>
      </p:sp>
      <p:sp>
        <p:nvSpPr>
          <p:cNvPr id="21" name="txt"/>
          <p:cNvSpPr txBox="1"/>
          <p:nvPr/>
        </p:nvSpPr>
        <p:spPr>
          <a:xfrm>
            <a:off x="6690344" y="3002843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Утрата,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порча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или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недобросовестное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отношение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имуществу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основания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для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материальной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ответственности.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6690344" y="3372261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Закрепление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имущества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должностными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лицами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фиксируется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порядком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материального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учёта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воинской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части.</a:t>
            </a:r>
          </a:p>
        </p:txBody>
      </p:sp>
      <p:sp>
        <p:nvSpPr>
          <p:cNvPr id="23" name="card"/>
          <p:cNvSpPr/>
          <p:nvPr/>
        </p:nvSpPr>
        <p:spPr>
          <a:xfrm>
            <a:off x="786384" y="4061719"/>
            <a:ext cx="5309600" cy="1693468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4" name="shape"/>
          <p:cNvSpPr/>
          <p:nvPr/>
        </p:nvSpPr>
        <p:spPr>
          <a:xfrm>
            <a:off x="786384" y="4061719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5" name="txt"/>
          <p:cNvSpPr txBox="1"/>
          <p:nvPr/>
        </p:nvSpPr>
        <p:spPr>
          <a:xfrm>
            <a:off x="978408" y="4235455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Защита государственной тайны</a:t>
            </a:r>
          </a:p>
        </p:txBody>
      </p:sp>
      <p:sp>
        <p:nvSpPr>
          <p:cNvPr id="26" name="txt"/>
          <p:cNvSpPr txBox="1"/>
          <p:nvPr/>
        </p:nvSpPr>
        <p:spPr>
          <a:xfrm>
            <a:off x="1161288" y="4491487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Допуск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Закону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№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2159-1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21.07.1993;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ограничения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выезд,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работу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разглашение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сведений.</a:t>
            </a:r>
          </a:p>
        </p:txBody>
      </p:sp>
      <p:sp>
        <p:nvSpPr>
          <p:cNvPr id="27" name="txt"/>
          <p:cNvSpPr txBox="1"/>
          <p:nvPr/>
        </p:nvSpPr>
        <p:spPr>
          <a:xfrm>
            <a:off x="1161288" y="4860904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Разглашение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или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утрата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сведений,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составляющих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государственную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тайну,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ст.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283,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284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РФ.</a:t>
            </a:r>
          </a:p>
        </p:txBody>
      </p:sp>
      <p:sp>
        <p:nvSpPr>
          <p:cNvPr id="28" name="txt"/>
          <p:cNvSpPr txBox="1"/>
          <p:nvPr/>
        </p:nvSpPr>
        <p:spPr>
          <a:xfrm>
            <a:off x="1161288" y="5230322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Пропускной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внутриобъектовый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режимы,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запрет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публикацию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служебной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информации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соцсетях.</a:t>
            </a:r>
          </a:p>
        </p:txBody>
      </p:sp>
      <p:sp>
        <p:nvSpPr>
          <p:cNvPr id="29" name="card"/>
          <p:cNvSpPr/>
          <p:nvPr/>
        </p:nvSpPr>
        <p:spPr>
          <a:xfrm>
            <a:off x="6315440" y="4061719"/>
            <a:ext cx="5309600" cy="1693468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0" name="shape"/>
          <p:cNvSpPr/>
          <p:nvPr/>
        </p:nvSpPr>
        <p:spPr>
          <a:xfrm>
            <a:off x="6315440" y="4061719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1" name="txt"/>
          <p:cNvSpPr txBox="1"/>
          <p:nvPr/>
        </p:nvSpPr>
        <p:spPr>
          <a:xfrm>
            <a:off x="6507464" y="4235455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Специальные обязанности по видам служб</a:t>
            </a:r>
          </a:p>
        </p:txBody>
      </p:sp>
      <p:sp>
        <p:nvSpPr>
          <p:cNvPr id="32" name="txt"/>
          <p:cNvSpPr txBox="1"/>
          <p:nvPr/>
        </p:nvSpPr>
        <p:spPr>
          <a:xfrm>
            <a:off x="6690344" y="4491487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Суточный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наряд,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дежурство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части,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гарнизонная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караульная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соответствующим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уставам.</a:t>
            </a:r>
          </a:p>
        </p:txBody>
      </p:sp>
      <p:sp>
        <p:nvSpPr>
          <p:cNvPr id="33" name="txt"/>
          <p:cNvSpPr txBox="1"/>
          <p:nvPr/>
        </p:nvSpPr>
        <p:spPr>
          <a:xfrm>
            <a:off x="6690344" y="4860904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боевом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охранении,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боевом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дежурстве,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режимах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повышенной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готовности.</a:t>
            </a:r>
          </a:p>
        </p:txBody>
      </p:sp>
      <p:sp>
        <p:nvSpPr>
          <p:cNvPr id="34" name="txt"/>
          <p:cNvSpPr txBox="1"/>
          <p:nvPr/>
        </p:nvSpPr>
        <p:spPr>
          <a:xfrm>
            <a:off x="6690344" y="5230322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Для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отдельных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категорий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специфика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полётных,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подводных,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испытательных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иных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видов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службы.</a:t>
            </a:r>
          </a:p>
        </p:txBody>
      </p:sp>
      <p:sp>
        <p:nvSpPr>
          <p:cNvPr id="35" name="shape"/>
          <p:cNvSpPr/>
          <p:nvPr/>
        </p:nvSpPr>
        <p:spPr>
          <a:xfrm>
            <a:off x="786384" y="6428232"/>
            <a:ext cx="10838657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6" name="txt"/>
          <p:cNvSpPr txBox="1"/>
          <p:nvPr/>
        </p:nvSpPr>
        <p:spPr>
          <a:xfrm>
            <a:off x="786384" y="65196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C4CF"/>
                </a:solidFill>
                <a:latin typeface="Arial"/>
              </a:rPr>
              <a:t>Права и общие обязанности военнослужащих в РФ</a:t>
            </a:r>
            <a:r>
              <a:rPr sz="900" b="0" i="0">
                <a:solidFill>
                  <a:srgbClr val="6B7B8C"/>
                </a:solidFill>
                <a:latin typeface="Arial"/>
              </a:rPr>
              <a:t>   ·   Профессиональные обязанности</a:t>
            </a:r>
          </a:p>
        </p:txBody>
      </p:sp>
      <p:sp>
        <p:nvSpPr>
          <p:cNvPr id="37" name="txt"/>
          <p:cNvSpPr txBox="1"/>
          <p:nvPr/>
        </p:nvSpPr>
        <p:spPr>
          <a:xfrm>
            <a:off x="10162001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9A3E"/>
                </a:solidFill>
                <a:latin typeface="Arial"/>
              </a:rPr>
              <a:t>05</a:t>
            </a:r>
            <a:r>
              <a:rPr sz="900" b="0" i="0">
                <a:solidFill>
                  <a:srgbClr val="B9C4CF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" name="shape"/>
          <p:cNvSpPr/>
          <p:nvPr/>
        </p:nvSpPr>
        <p:spPr>
          <a:xfrm>
            <a:off x="0" y="0"/>
            <a:ext cx="105156" cy="6858000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4" name="shape"/>
          <p:cNvSpPr/>
          <p:nvPr/>
        </p:nvSpPr>
        <p:spPr>
          <a:xfrm>
            <a:off x="0" y="0"/>
            <a:ext cx="105156" cy="1965960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5" name="txt"/>
          <p:cNvSpPr txBox="1"/>
          <p:nvPr/>
        </p:nvSpPr>
        <p:spPr>
          <a:xfrm>
            <a:off x="10774649" y="365760"/>
            <a:ext cx="8503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7DFE8"/>
                </a:solidFill>
                <a:latin typeface="Arial"/>
              </a:rPr>
              <a:t>06</a:t>
            </a:r>
          </a:p>
        </p:txBody>
      </p:sp>
      <p:sp>
        <p:nvSpPr>
          <p:cNvPr id="6" name="txt"/>
          <p:cNvSpPr txBox="1"/>
          <p:nvPr/>
        </p:nvSpPr>
        <p:spPr>
          <a:xfrm>
            <a:off x="786384" y="41148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B7B8C"/>
                </a:solidFill>
                <a:latin typeface="Arial"/>
              </a:rPr>
              <a:t>РАЗДЕЛ II ФЗ № 76-ФЗ</a:t>
            </a:r>
          </a:p>
        </p:txBody>
      </p:sp>
      <p:sp>
        <p:nvSpPr>
          <p:cNvPr id="7" name="txt"/>
          <p:cNvSpPr txBox="1"/>
          <p:nvPr/>
        </p:nvSpPr>
        <p:spPr>
          <a:xfrm>
            <a:off x="786384" y="6583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E2545"/>
                </a:solidFill>
                <a:latin typeface="Arial"/>
              </a:rPr>
              <a:t>Социально-экономические права и гарантии</a:t>
            </a:r>
          </a:p>
        </p:txBody>
      </p:sp>
      <p:sp>
        <p:nvSpPr>
          <p:cNvPr id="8" name="shape"/>
          <p:cNvSpPr/>
          <p:nvPr/>
        </p:nvSpPr>
        <p:spPr>
          <a:xfrm>
            <a:off x="786384" y="1216152"/>
            <a:ext cx="786384" cy="32918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9" name="shape"/>
          <p:cNvSpPr/>
          <p:nvPr/>
        </p:nvSpPr>
        <p:spPr>
          <a:xfrm>
            <a:off x="1627632" y="1229868"/>
            <a:ext cx="9997409" cy="12801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0" name="txt"/>
          <p:cNvSpPr txBox="1"/>
          <p:nvPr/>
        </p:nvSpPr>
        <p:spPr>
          <a:xfrm>
            <a:off x="786384" y="1481328"/>
            <a:ext cx="1083865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Государство компенсирует особенности службы денежным, жилищным, медицинским и социальным обеспечением военнослужащего 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членов его семьи.</a:t>
            </a:r>
          </a:p>
        </p:txBody>
      </p:sp>
      <p:sp>
        <p:nvSpPr>
          <p:cNvPr id="11" name="card"/>
          <p:cNvSpPr/>
          <p:nvPr/>
        </p:nvSpPr>
        <p:spPr>
          <a:xfrm>
            <a:off x="786384" y="2316815"/>
            <a:ext cx="5309600" cy="1693468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2" name="shape"/>
          <p:cNvSpPr/>
          <p:nvPr/>
        </p:nvSpPr>
        <p:spPr>
          <a:xfrm>
            <a:off x="786384" y="2316815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3" name="txt"/>
          <p:cNvSpPr txBox="1"/>
          <p:nvPr/>
        </p:nvSpPr>
        <p:spPr>
          <a:xfrm>
            <a:off x="978408" y="2490551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Денежное довольствие (ст. 2)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1161288" y="2746583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Оклад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воинской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должности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оклад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воинскому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званию;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ежемесячные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выплаты.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1161288" y="3116000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Надбавки: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выслугу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лет,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классную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квалификацию,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особые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условия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службы,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работу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гостайной.</a:t>
            </a:r>
          </a:p>
        </p:txBody>
      </p:sp>
      <p:sp>
        <p:nvSpPr>
          <p:cNvPr id="16" name="txt"/>
          <p:cNvSpPr txBox="1"/>
          <p:nvPr/>
        </p:nvSpPr>
        <p:spPr>
          <a:xfrm>
            <a:off x="1161288" y="3485418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Индексация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размеров,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единовременные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выплаты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увольнении,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районные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коэффициенты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процентные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надбавки.</a:t>
            </a:r>
          </a:p>
        </p:txBody>
      </p:sp>
      <p:sp>
        <p:nvSpPr>
          <p:cNvPr id="17" name="card"/>
          <p:cNvSpPr/>
          <p:nvPr/>
        </p:nvSpPr>
        <p:spPr>
          <a:xfrm>
            <a:off x="6315440" y="2316815"/>
            <a:ext cx="5309600" cy="1693468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8" name="shape"/>
          <p:cNvSpPr/>
          <p:nvPr/>
        </p:nvSpPr>
        <p:spPr>
          <a:xfrm>
            <a:off x="6315440" y="2316815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9" name="txt"/>
          <p:cNvSpPr txBox="1"/>
          <p:nvPr/>
        </p:nvSpPr>
        <p:spPr>
          <a:xfrm>
            <a:off x="6507464" y="2490551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Жилищное обеспечение (ст. 15)</a:t>
            </a:r>
          </a:p>
        </p:txBody>
      </p:sp>
      <p:sp>
        <p:nvSpPr>
          <p:cNvPr id="20" name="txt"/>
          <p:cNvSpPr txBox="1"/>
          <p:nvPr/>
        </p:nvSpPr>
        <p:spPr>
          <a:xfrm>
            <a:off x="6690344" y="2746583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Служебные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жилые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помещения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период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службы,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жилые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помещения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закрытых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городках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общежития.</a:t>
            </a:r>
          </a:p>
        </p:txBody>
      </p:sp>
      <p:sp>
        <p:nvSpPr>
          <p:cNvPr id="21" name="txt"/>
          <p:cNvSpPr txBox="1"/>
          <p:nvPr/>
        </p:nvSpPr>
        <p:spPr>
          <a:xfrm>
            <a:off x="6690344" y="3116000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Единовременная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денежная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выплата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(ЕДВ)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приобретение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или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строительство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жилья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для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признанных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нуждающимися.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6690344" y="3485418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ипотека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накопительно-ипотечная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система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(НИС),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ФЗ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№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117-ФЗ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20.08.2004.</a:t>
            </a:r>
          </a:p>
        </p:txBody>
      </p:sp>
      <p:sp>
        <p:nvSpPr>
          <p:cNvPr id="23" name="card"/>
          <p:cNvSpPr/>
          <p:nvPr/>
        </p:nvSpPr>
        <p:spPr>
          <a:xfrm>
            <a:off x="786384" y="4174876"/>
            <a:ext cx="5309600" cy="1693468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4" name="shape"/>
          <p:cNvSpPr/>
          <p:nvPr/>
        </p:nvSpPr>
        <p:spPr>
          <a:xfrm>
            <a:off x="786384" y="4174876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5" name="txt"/>
          <p:cNvSpPr txBox="1"/>
          <p:nvPr/>
        </p:nvSpPr>
        <p:spPr>
          <a:xfrm>
            <a:off x="978408" y="4348612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Медицинское обеспечение (ст. 16)</a:t>
            </a:r>
          </a:p>
        </p:txBody>
      </p:sp>
      <p:sp>
        <p:nvSpPr>
          <p:cNvPr id="26" name="txt"/>
          <p:cNvSpPr txBox="1"/>
          <p:nvPr/>
        </p:nvSpPr>
        <p:spPr>
          <a:xfrm>
            <a:off x="1161288" y="4604644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Бесплатная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медицинская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помощь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военно-медицинских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организациях,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включая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специализированную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высокотехнологичную.</a:t>
            </a:r>
          </a:p>
        </p:txBody>
      </p:sp>
      <p:sp>
        <p:nvSpPr>
          <p:cNvPr id="27" name="txt"/>
          <p:cNvSpPr txBox="1"/>
          <p:nvPr/>
        </p:nvSpPr>
        <p:spPr>
          <a:xfrm>
            <a:off x="1161288" y="4974061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Обеспечение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лекарственными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препаратами,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изготовление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ремонт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зубных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протезов.</a:t>
            </a:r>
          </a:p>
        </p:txBody>
      </p:sp>
      <p:sp>
        <p:nvSpPr>
          <p:cNvPr id="28" name="txt"/>
          <p:cNvSpPr txBox="1"/>
          <p:nvPr/>
        </p:nvSpPr>
        <p:spPr>
          <a:xfrm>
            <a:off x="1161288" y="5343479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Санаторно-курортное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лечение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реабилитация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для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военнослужащих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членов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семей.</a:t>
            </a:r>
          </a:p>
        </p:txBody>
      </p:sp>
      <p:sp>
        <p:nvSpPr>
          <p:cNvPr id="29" name="card"/>
          <p:cNvSpPr/>
          <p:nvPr/>
        </p:nvSpPr>
        <p:spPr>
          <a:xfrm>
            <a:off x="6315440" y="4174876"/>
            <a:ext cx="5309600" cy="1693468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0" name="shape"/>
          <p:cNvSpPr/>
          <p:nvPr/>
        </p:nvSpPr>
        <p:spPr>
          <a:xfrm>
            <a:off x="6315440" y="4174876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1" name="txt"/>
          <p:cNvSpPr txBox="1"/>
          <p:nvPr/>
        </p:nvSpPr>
        <p:spPr>
          <a:xfrm>
            <a:off x="6507464" y="4348612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Отдых, страхование, быт (ст. 11, 12, 17)</a:t>
            </a:r>
          </a:p>
        </p:txBody>
      </p:sp>
      <p:sp>
        <p:nvSpPr>
          <p:cNvPr id="32" name="txt"/>
          <p:cNvSpPr txBox="1"/>
          <p:nvPr/>
        </p:nvSpPr>
        <p:spPr>
          <a:xfrm>
            <a:off x="6690344" y="4604644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Основной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отпуск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исчисляется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сутках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зависит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выслуги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лет;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дополнительно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учитывается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время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проезд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месту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отдыха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обратно.</a:t>
            </a:r>
          </a:p>
        </p:txBody>
      </p:sp>
      <p:sp>
        <p:nvSpPr>
          <p:cNvPr id="33" name="txt"/>
          <p:cNvSpPr txBox="1"/>
          <p:nvPr/>
        </p:nvSpPr>
        <p:spPr>
          <a:xfrm>
            <a:off x="6690344" y="4974061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Обязательное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государственное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страхование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жизни,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здоровья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имущества;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единовременные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пособия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ранениях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(увечьях).</a:t>
            </a:r>
          </a:p>
        </p:txBody>
      </p:sp>
      <p:sp>
        <p:nvSpPr>
          <p:cNvPr id="34" name="txt"/>
          <p:cNvSpPr txBox="1"/>
          <p:nvPr/>
        </p:nvSpPr>
        <p:spPr>
          <a:xfrm>
            <a:off x="6690344" y="5343479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Вещевое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продовольственное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обеспечение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(или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соответствующие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выплаты),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военно-транспортные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перевозки.</a:t>
            </a:r>
          </a:p>
        </p:txBody>
      </p:sp>
      <p:sp>
        <p:nvSpPr>
          <p:cNvPr id="35" name="shape"/>
          <p:cNvSpPr/>
          <p:nvPr/>
        </p:nvSpPr>
        <p:spPr>
          <a:xfrm>
            <a:off x="786384" y="6428232"/>
            <a:ext cx="10838657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6" name="txt"/>
          <p:cNvSpPr txBox="1"/>
          <p:nvPr/>
        </p:nvSpPr>
        <p:spPr>
          <a:xfrm>
            <a:off x="786384" y="65196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C4CF"/>
                </a:solidFill>
                <a:latin typeface="Arial"/>
              </a:rPr>
              <a:t>Права и общие обязанности военнослужащих в РФ</a:t>
            </a:r>
            <a:r>
              <a:rPr sz="900" b="0" i="0">
                <a:solidFill>
                  <a:srgbClr val="6B7B8C"/>
                </a:solidFill>
                <a:latin typeface="Arial"/>
              </a:rPr>
              <a:t>   ·   Социально-экономические права</a:t>
            </a:r>
          </a:p>
        </p:txBody>
      </p:sp>
      <p:sp>
        <p:nvSpPr>
          <p:cNvPr id="37" name="txt"/>
          <p:cNvSpPr txBox="1"/>
          <p:nvPr/>
        </p:nvSpPr>
        <p:spPr>
          <a:xfrm>
            <a:off x="10162001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9A3E"/>
                </a:solidFill>
                <a:latin typeface="Arial"/>
              </a:rPr>
              <a:t>06</a:t>
            </a:r>
            <a:r>
              <a:rPr sz="900" b="0" i="0">
                <a:solidFill>
                  <a:srgbClr val="B9C4CF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" name="shape"/>
          <p:cNvSpPr/>
          <p:nvPr/>
        </p:nvSpPr>
        <p:spPr>
          <a:xfrm>
            <a:off x="0" y="0"/>
            <a:ext cx="105156" cy="6858000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4" name="shape"/>
          <p:cNvSpPr/>
          <p:nvPr/>
        </p:nvSpPr>
        <p:spPr>
          <a:xfrm>
            <a:off x="0" y="0"/>
            <a:ext cx="105156" cy="1965960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5" name="txt"/>
          <p:cNvSpPr txBox="1"/>
          <p:nvPr/>
        </p:nvSpPr>
        <p:spPr>
          <a:xfrm>
            <a:off x="10774649" y="365760"/>
            <a:ext cx="8503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7DFE8"/>
                </a:solidFill>
                <a:latin typeface="Arial"/>
              </a:rPr>
              <a:t>07</a:t>
            </a:r>
          </a:p>
        </p:txBody>
      </p:sp>
      <p:sp>
        <p:nvSpPr>
          <p:cNvPr id="6" name="txt"/>
          <p:cNvSpPr txBox="1"/>
          <p:nvPr/>
        </p:nvSpPr>
        <p:spPr>
          <a:xfrm>
            <a:off x="786384" y="41148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B7B8C"/>
                </a:solidFill>
                <a:latin typeface="Arial"/>
              </a:rPr>
              <a:t>РАЗДЕЛ III ФЗ № 76-ФЗ</a:t>
            </a:r>
          </a:p>
        </p:txBody>
      </p:sp>
      <p:sp>
        <p:nvSpPr>
          <p:cNvPr id="7" name="txt"/>
          <p:cNvSpPr txBox="1"/>
          <p:nvPr/>
        </p:nvSpPr>
        <p:spPr>
          <a:xfrm>
            <a:off x="786384" y="6583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E2545"/>
                </a:solidFill>
                <a:latin typeface="Arial"/>
              </a:rPr>
              <a:t>Политические права и служебные ограничения</a:t>
            </a:r>
          </a:p>
        </p:txBody>
      </p:sp>
      <p:sp>
        <p:nvSpPr>
          <p:cNvPr id="8" name="shape"/>
          <p:cNvSpPr/>
          <p:nvPr/>
        </p:nvSpPr>
        <p:spPr>
          <a:xfrm>
            <a:off x="786384" y="1216152"/>
            <a:ext cx="786384" cy="32918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9" name="shape"/>
          <p:cNvSpPr/>
          <p:nvPr/>
        </p:nvSpPr>
        <p:spPr>
          <a:xfrm>
            <a:off x="1627632" y="1229868"/>
            <a:ext cx="9997409" cy="12801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0" name="txt"/>
          <p:cNvSpPr txBox="1"/>
          <p:nvPr/>
        </p:nvSpPr>
        <p:spPr>
          <a:xfrm>
            <a:off x="786384" y="1481328"/>
            <a:ext cx="1083865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Военнослужащие сохраняют общероссийские политические права, но порядок их реализации ограничен в интересах аполитичности армии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и боеготовности.</a:t>
            </a:r>
          </a:p>
        </p:txBody>
      </p:sp>
      <p:sp>
        <p:nvSpPr>
          <p:cNvPr id="11" name="card"/>
          <p:cNvSpPr/>
          <p:nvPr/>
        </p:nvSpPr>
        <p:spPr>
          <a:xfrm>
            <a:off x="786384" y="2350488"/>
            <a:ext cx="3466581" cy="2659075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2" name="shape"/>
          <p:cNvSpPr/>
          <p:nvPr/>
        </p:nvSpPr>
        <p:spPr>
          <a:xfrm>
            <a:off x="786384" y="2350488"/>
            <a:ext cx="3466581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3" name="txt"/>
          <p:cNvSpPr txBox="1"/>
          <p:nvPr/>
        </p:nvSpPr>
        <p:spPr>
          <a:xfrm>
            <a:off x="978408" y="2524224"/>
            <a:ext cx="3082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Что сохраняется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1161288" y="2780256"/>
            <a:ext cx="289965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Избирательное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право: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участие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референдуме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выборах,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выдвижение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кандидатом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порядке,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установленном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законодательством.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1161288" y="3471542"/>
            <a:ext cx="289965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Обращения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государственные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органы,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суд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прокуратуру;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доступ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сведениям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себе.</a:t>
            </a:r>
          </a:p>
        </p:txBody>
      </p:sp>
      <p:sp>
        <p:nvSpPr>
          <p:cNvPr id="16" name="txt"/>
          <p:cNvSpPr txBox="1"/>
          <p:nvPr/>
        </p:nvSpPr>
        <p:spPr>
          <a:xfrm>
            <a:off x="1161288" y="3840960"/>
            <a:ext cx="289965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Свобода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слова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информации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части,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затрагивающей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охраняемую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законом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тайну.</a:t>
            </a:r>
          </a:p>
        </p:txBody>
      </p:sp>
      <p:sp>
        <p:nvSpPr>
          <p:cNvPr id="17" name="card"/>
          <p:cNvSpPr/>
          <p:nvPr/>
        </p:nvSpPr>
        <p:spPr>
          <a:xfrm>
            <a:off x="4472421" y="2350488"/>
            <a:ext cx="3466581" cy="2659075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8" name="shape"/>
          <p:cNvSpPr/>
          <p:nvPr/>
        </p:nvSpPr>
        <p:spPr>
          <a:xfrm>
            <a:off x="4472421" y="2350488"/>
            <a:ext cx="3466581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9" name="txt"/>
          <p:cNvSpPr txBox="1"/>
          <p:nvPr/>
        </p:nvSpPr>
        <p:spPr>
          <a:xfrm>
            <a:off x="4664445" y="2524224"/>
            <a:ext cx="3082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Что запрещено или ограничено</a:t>
            </a:r>
          </a:p>
        </p:txBody>
      </p:sp>
      <p:sp>
        <p:nvSpPr>
          <p:cNvPr id="20" name="txt"/>
          <p:cNvSpPr txBox="1"/>
          <p:nvPr/>
        </p:nvSpPr>
        <p:spPr>
          <a:xfrm>
            <a:off x="4847325" y="2780256"/>
            <a:ext cx="289965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Членство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политических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партиях,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участие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их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деятельности,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митингах,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шествиях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пикетировании,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использование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служебного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положения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интересах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партий.</a:t>
            </a:r>
          </a:p>
        </p:txBody>
      </p:sp>
      <p:sp>
        <p:nvSpPr>
          <p:cNvPr id="21" name="txt"/>
          <p:cNvSpPr txBox="1"/>
          <p:nvPr/>
        </p:nvSpPr>
        <p:spPr>
          <a:xfrm>
            <a:off x="4847325" y="3471542"/>
            <a:ext cx="289965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Забастовки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отказ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исполнения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обязанностей;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предпринимательская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деятельность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оплачиваемая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работа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совместительству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(кроме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преподавательской,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научной,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творческой).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4847325" y="4323763"/>
            <a:ext cx="2899653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Публичные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оценки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деятельности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органов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государственной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власти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политических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объединений.</a:t>
            </a:r>
          </a:p>
        </p:txBody>
      </p:sp>
      <p:sp>
        <p:nvSpPr>
          <p:cNvPr id="23" name="card"/>
          <p:cNvSpPr/>
          <p:nvPr/>
        </p:nvSpPr>
        <p:spPr>
          <a:xfrm>
            <a:off x="8158459" y="2350488"/>
            <a:ext cx="3466581" cy="2659075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4" name="shape"/>
          <p:cNvSpPr/>
          <p:nvPr/>
        </p:nvSpPr>
        <p:spPr>
          <a:xfrm>
            <a:off x="8158459" y="2350488"/>
            <a:ext cx="3466581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5" name="txt"/>
          <p:cNvSpPr txBox="1"/>
          <p:nvPr/>
        </p:nvSpPr>
        <p:spPr>
          <a:xfrm>
            <a:off x="8350483" y="2524224"/>
            <a:ext cx="3082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Дополнительные ограничения</a:t>
            </a:r>
          </a:p>
        </p:txBody>
      </p:sp>
      <p:sp>
        <p:nvSpPr>
          <p:cNvPr id="26" name="txt"/>
          <p:cNvSpPr txBox="1"/>
          <p:nvPr/>
        </p:nvSpPr>
        <p:spPr>
          <a:xfrm>
            <a:off x="8533363" y="2780256"/>
            <a:ext cx="2899653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Ограничения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выезд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пределы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период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срок,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установленный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условиями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допуска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гостайне.</a:t>
            </a:r>
          </a:p>
        </p:txBody>
      </p:sp>
      <p:sp>
        <p:nvSpPr>
          <p:cNvPr id="27" name="txt"/>
          <p:cNvSpPr txBox="1"/>
          <p:nvPr/>
        </p:nvSpPr>
        <p:spPr>
          <a:xfrm>
            <a:off x="8533363" y="3310608"/>
            <a:ext cx="289965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Исполнение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заведомо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незаконного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приказа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не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освобождает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ответственности;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неисполнение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законного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приказа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правонарушение.</a:t>
            </a:r>
          </a:p>
        </p:txBody>
      </p:sp>
      <p:sp>
        <p:nvSpPr>
          <p:cNvPr id="28" name="txt"/>
          <p:cNvSpPr txBox="1"/>
          <p:nvPr/>
        </p:nvSpPr>
        <p:spPr>
          <a:xfrm>
            <a:off x="8533363" y="4001894"/>
            <a:ext cx="2899653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Правила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использования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мобильных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устройств,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социальных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сетей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мессенджеров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воинской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части.</a:t>
            </a:r>
          </a:p>
        </p:txBody>
      </p:sp>
      <p:sp>
        <p:nvSpPr>
          <p:cNvPr id="29" name="note"/>
          <p:cNvSpPr/>
          <p:nvPr/>
        </p:nvSpPr>
        <p:spPr>
          <a:xfrm>
            <a:off x="786384" y="5229019"/>
            <a:ext cx="10838657" cy="59817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0" name="shape"/>
          <p:cNvSpPr/>
          <p:nvPr/>
        </p:nvSpPr>
        <p:spPr>
          <a:xfrm>
            <a:off x="786384" y="5229019"/>
            <a:ext cx="50292" cy="598170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1" name="txt"/>
          <p:cNvSpPr txBox="1"/>
          <p:nvPr/>
        </p:nvSpPr>
        <p:spPr>
          <a:xfrm>
            <a:off x="1060704" y="5338747"/>
            <a:ext cx="10290017" cy="5981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80">
                <a:solidFill>
                  <a:srgbClr val="0E2545"/>
                </a:solidFill>
                <a:latin typeface="Arial"/>
              </a:rPr>
              <a:t>ПРАКТИКА</a:t>
            </a:r>
            <a:r>
              <a:rPr sz="1050" b="0" i="0">
                <a:solidFill>
                  <a:srgbClr val="0E2545"/>
                </a:solidFill>
                <a:latin typeface="Arial"/>
              </a:rPr>
              <a:t>    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ания, митинги и демонстрации допустимы только как участие гражданина — во внеслужебное время, без форменной одежды, знаков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5364"/>
                </a:solidFill>
                <a:latin typeface="Arial"/>
              </a:rPr>
              <a:t>различия и оружия.</a:t>
            </a:r>
          </a:p>
        </p:txBody>
      </p:sp>
      <p:sp>
        <p:nvSpPr>
          <p:cNvPr id="32" name="shape"/>
          <p:cNvSpPr/>
          <p:nvPr/>
        </p:nvSpPr>
        <p:spPr>
          <a:xfrm>
            <a:off x="786384" y="6428232"/>
            <a:ext cx="10838657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3" name="txt"/>
          <p:cNvSpPr txBox="1"/>
          <p:nvPr/>
        </p:nvSpPr>
        <p:spPr>
          <a:xfrm>
            <a:off x="786384" y="65196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C4CF"/>
                </a:solidFill>
                <a:latin typeface="Arial"/>
              </a:rPr>
              <a:t>Права и общие обязанности военнослужащих в РФ</a:t>
            </a:r>
            <a:r>
              <a:rPr sz="900" b="0" i="0">
                <a:solidFill>
                  <a:srgbClr val="6B7B8C"/>
                </a:solidFill>
                <a:latin typeface="Arial"/>
              </a:rPr>
              <a:t>   ·   Политические права и ограничения</a:t>
            </a:r>
          </a:p>
        </p:txBody>
      </p:sp>
      <p:sp>
        <p:nvSpPr>
          <p:cNvPr id="34" name="txt"/>
          <p:cNvSpPr txBox="1"/>
          <p:nvPr/>
        </p:nvSpPr>
        <p:spPr>
          <a:xfrm>
            <a:off x="10162001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9A3E"/>
                </a:solidFill>
                <a:latin typeface="Arial"/>
              </a:rPr>
              <a:t>07</a:t>
            </a:r>
            <a:r>
              <a:rPr sz="900" b="0" i="0">
                <a:solidFill>
                  <a:srgbClr val="B9C4CF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" name="shape"/>
          <p:cNvSpPr/>
          <p:nvPr/>
        </p:nvSpPr>
        <p:spPr>
          <a:xfrm>
            <a:off x="0" y="0"/>
            <a:ext cx="105156" cy="6858000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4" name="shape"/>
          <p:cNvSpPr/>
          <p:nvPr/>
        </p:nvSpPr>
        <p:spPr>
          <a:xfrm>
            <a:off x="0" y="0"/>
            <a:ext cx="105156" cy="1965960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5" name="txt"/>
          <p:cNvSpPr txBox="1"/>
          <p:nvPr/>
        </p:nvSpPr>
        <p:spPr>
          <a:xfrm>
            <a:off x="10774649" y="365760"/>
            <a:ext cx="8503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7DFE8"/>
                </a:solidFill>
                <a:latin typeface="Arial"/>
              </a:rPr>
              <a:t>08</a:t>
            </a:r>
          </a:p>
        </p:txBody>
      </p:sp>
      <p:sp>
        <p:nvSpPr>
          <p:cNvPr id="6" name="txt"/>
          <p:cNvSpPr txBox="1"/>
          <p:nvPr/>
        </p:nvSpPr>
        <p:spPr>
          <a:xfrm>
            <a:off x="786384" y="41148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B7B8C"/>
                </a:solidFill>
                <a:latin typeface="Arial"/>
              </a:rPr>
              <a:t>ДОСТОИНСТВО, ВЕРА, ЮРИДИЧЕСКАЯ ЗАЩИТА</a:t>
            </a:r>
          </a:p>
        </p:txBody>
      </p:sp>
      <p:sp>
        <p:nvSpPr>
          <p:cNvPr id="7" name="txt"/>
          <p:cNvSpPr txBox="1"/>
          <p:nvPr/>
        </p:nvSpPr>
        <p:spPr>
          <a:xfrm>
            <a:off x="786384" y="6583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E2545"/>
                </a:solidFill>
                <a:latin typeface="Arial"/>
              </a:rPr>
              <a:t>Личные права и свободы военнослужащего</a:t>
            </a:r>
          </a:p>
        </p:txBody>
      </p:sp>
      <p:sp>
        <p:nvSpPr>
          <p:cNvPr id="8" name="shape"/>
          <p:cNvSpPr/>
          <p:nvPr/>
        </p:nvSpPr>
        <p:spPr>
          <a:xfrm>
            <a:off x="786384" y="1216152"/>
            <a:ext cx="786384" cy="32918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9" name="shape"/>
          <p:cNvSpPr/>
          <p:nvPr/>
        </p:nvSpPr>
        <p:spPr>
          <a:xfrm>
            <a:off x="1627632" y="1229868"/>
            <a:ext cx="9997409" cy="12801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0" name="txt"/>
          <p:cNvSpPr txBox="1"/>
          <p:nvPr/>
        </p:nvSpPr>
        <p:spPr>
          <a:xfrm>
            <a:off x="786384" y="1481328"/>
            <a:ext cx="1083865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Личные права защищают самого человека — его жизнь, здоровье, честь и мировоззрение — вне зависимости от занимаемой должности.</a:t>
            </a:r>
          </a:p>
        </p:txBody>
      </p:sp>
      <p:sp>
        <p:nvSpPr>
          <p:cNvPr id="11" name="card"/>
          <p:cNvSpPr/>
          <p:nvPr/>
        </p:nvSpPr>
        <p:spPr>
          <a:xfrm>
            <a:off x="786384" y="2131237"/>
            <a:ext cx="5309600" cy="1693468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2" name="shape"/>
          <p:cNvSpPr/>
          <p:nvPr/>
        </p:nvSpPr>
        <p:spPr>
          <a:xfrm>
            <a:off x="786384" y="2131237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3" name="txt"/>
          <p:cNvSpPr txBox="1"/>
          <p:nvPr/>
        </p:nvSpPr>
        <p:spPr>
          <a:xfrm>
            <a:off x="978408" y="2304973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Защита жизни, чести и достоинства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1161288" y="2561005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Честь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достоинство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охраняются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законом;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оскорбление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унижение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недопустимы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стороны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сослуживцев,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стороны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начальников.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1161288" y="2930423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Государство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защищает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военнослужащего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членов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его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семьи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насилия,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угроз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посягательств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связи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исполнением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обязанностей.</a:t>
            </a:r>
          </a:p>
        </p:txBody>
      </p:sp>
      <p:sp>
        <p:nvSpPr>
          <p:cNvPr id="16" name="txt"/>
          <p:cNvSpPr txBox="1"/>
          <p:nvPr/>
        </p:nvSpPr>
        <p:spPr>
          <a:xfrm>
            <a:off x="1161288" y="3299840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Ответственность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оскорбление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военнослужащего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исполнении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обязанностей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ст.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319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РФ.</a:t>
            </a:r>
          </a:p>
        </p:txBody>
      </p:sp>
      <p:sp>
        <p:nvSpPr>
          <p:cNvPr id="17" name="card"/>
          <p:cNvSpPr/>
          <p:nvPr/>
        </p:nvSpPr>
        <p:spPr>
          <a:xfrm>
            <a:off x="6315440" y="2131237"/>
            <a:ext cx="5309600" cy="1693468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8" name="shape"/>
          <p:cNvSpPr/>
          <p:nvPr/>
        </p:nvSpPr>
        <p:spPr>
          <a:xfrm>
            <a:off x="6315440" y="2131237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9" name="txt"/>
          <p:cNvSpPr txBox="1"/>
          <p:nvPr/>
        </p:nvSpPr>
        <p:spPr>
          <a:xfrm>
            <a:off x="6507464" y="2304973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Свобода совести и вероисповедания</a:t>
            </a:r>
          </a:p>
        </p:txBody>
      </p:sp>
      <p:sp>
        <p:nvSpPr>
          <p:cNvPr id="20" name="txt"/>
          <p:cNvSpPr txBox="1"/>
          <p:nvPr/>
        </p:nvSpPr>
        <p:spPr>
          <a:xfrm>
            <a:off x="6690344" y="2561005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исповедовать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любую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религию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или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исповедовать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никакой,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свободно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выбирать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распространять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убеждения.</a:t>
            </a:r>
          </a:p>
        </p:txBody>
      </p:sp>
      <p:sp>
        <p:nvSpPr>
          <p:cNvPr id="21" name="txt"/>
          <p:cNvSpPr txBox="1"/>
          <p:nvPr/>
        </p:nvSpPr>
        <p:spPr>
          <a:xfrm>
            <a:off x="6690344" y="2930423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Религиозные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обряды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совершаются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внеслужебное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время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должны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мешать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повседневной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деятельности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подразделения.</a:t>
            </a:r>
          </a:p>
        </p:txBody>
      </p:sp>
      <p:sp>
        <p:nvSpPr>
          <p:cNvPr id="22" name="txt"/>
          <p:cNvSpPr txBox="1"/>
          <p:nvPr/>
        </p:nvSpPr>
        <p:spPr>
          <a:xfrm>
            <a:off x="6690344" y="3299840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Духовные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(военные)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служители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могут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привлекаться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окормлению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личного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состава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установленном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порядке.</a:t>
            </a:r>
          </a:p>
        </p:txBody>
      </p:sp>
      <p:sp>
        <p:nvSpPr>
          <p:cNvPr id="23" name="card"/>
          <p:cNvSpPr/>
          <p:nvPr/>
        </p:nvSpPr>
        <p:spPr>
          <a:xfrm>
            <a:off x="786384" y="3989298"/>
            <a:ext cx="5309600" cy="1854403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4" name="shape"/>
          <p:cNvSpPr/>
          <p:nvPr/>
        </p:nvSpPr>
        <p:spPr>
          <a:xfrm>
            <a:off x="786384" y="3989298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5" name="txt"/>
          <p:cNvSpPr txBox="1"/>
          <p:nvPr/>
        </p:nvSpPr>
        <p:spPr>
          <a:xfrm>
            <a:off x="978408" y="4163034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Юридическая защита и обжалование</a:t>
            </a:r>
          </a:p>
        </p:txBody>
      </p:sp>
      <p:sp>
        <p:nvSpPr>
          <p:cNvPr id="26" name="txt"/>
          <p:cNvSpPr txBox="1"/>
          <p:nvPr/>
        </p:nvSpPr>
        <p:spPr>
          <a:xfrm>
            <a:off x="1161288" y="4419066"/>
            <a:ext cx="4742672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Решения,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действия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(бездействие)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командиров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обжалуются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вышестоящему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командиру,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гарнизонский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военный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суд,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военному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прокурору.</a:t>
            </a:r>
          </a:p>
        </p:txBody>
      </p:sp>
      <p:sp>
        <p:nvSpPr>
          <p:cNvPr id="27" name="txt"/>
          <p:cNvSpPr txBox="1"/>
          <p:nvPr/>
        </p:nvSpPr>
        <p:spPr>
          <a:xfrm>
            <a:off x="1161288" y="4949418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юридическую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помощь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судебную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защиту,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включая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обжалование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вышестоящие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органы.</a:t>
            </a:r>
          </a:p>
        </p:txBody>
      </p:sp>
      <p:sp>
        <p:nvSpPr>
          <p:cNvPr id="28" name="txt"/>
          <p:cNvSpPr txBox="1"/>
          <p:nvPr/>
        </p:nvSpPr>
        <p:spPr>
          <a:xfrm>
            <a:off x="1161288" y="5318836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Надзор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исполнением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законов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осуществляют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военная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прокуратура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следственные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органы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РФ.</a:t>
            </a:r>
          </a:p>
        </p:txBody>
      </p:sp>
      <p:sp>
        <p:nvSpPr>
          <p:cNvPr id="29" name="card"/>
          <p:cNvSpPr/>
          <p:nvPr/>
        </p:nvSpPr>
        <p:spPr>
          <a:xfrm>
            <a:off x="6315440" y="3989298"/>
            <a:ext cx="5309600" cy="1854403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0" name="shape"/>
          <p:cNvSpPr/>
          <p:nvPr/>
        </p:nvSpPr>
        <p:spPr>
          <a:xfrm>
            <a:off x="6315440" y="3989298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1" name="txt"/>
          <p:cNvSpPr txBox="1"/>
          <p:nvPr/>
        </p:nvSpPr>
        <p:spPr>
          <a:xfrm>
            <a:off x="6507464" y="4163034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Информация, творчество, личная жизнь</a:t>
            </a:r>
          </a:p>
        </p:txBody>
      </p:sp>
      <p:sp>
        <p:nvSpPr>
          <p:cNvPr id="32" name="txt"/>
          <p:cNvSpPr txBox="1"/>
          <p:nvPr/>
        </p:nvSpPr>
        <p:spPr>
          <a:xfrm>
            <a:off x="6690344" y="4419066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Свобода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слова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информации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учётом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запретов,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связанных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спецификой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защитой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тайны.</a:t>
            </a:r>
          </a:p>
        </p:txBody>
      </p:sp>
      <p:sp>
        <p:nvSpPr>
          <p:cNvPr id="33" name="txt"/>
          <p:cNvSpPr txBox="1"/>
          <p:nvPr/>
        </p:nvSpPr>
        <p:spPr>
          <a:xfrm>
            <a:off x="6690344" y="4788484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отдых,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неприкосновенность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частной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жизни,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жилище,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охрану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здоровья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объёме,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определённом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ФЗ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№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76-ФЗ.</a:t>
            </a:r>
          </a:p>
        </p:txBody>
      </p:sp>
      <p:sp>
        <p:nvSpPr>
          <p:cNvPr id="34" name="txt"/>
          <p:cNvSpPr txBox="1"/>
          <p:nvPr/>
        </p:nvSpPr>
        <p:spPr>
          <a:xfrm>
            <a:off x="6690344" y="5157901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Творческая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писательская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деятельность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отсутствии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материалах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сведений,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отнесённых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охраняемой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законом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тайне.</a:t>
            </a:r>
          </a:p>
        </p:txBody>
      </p:sp>
      <p:sp>
        <p:nvSpPr>
          <p:cNvPr id="35" name="shape"/>
          <p:cNvSpPr/>
          <p:nvPr/>
        </p:nvSpPr>
        <p:spPr>
          <a:xfrm>
            <a:off x="786384" y="6428232"/>
            <a:ext cx="10838657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6" name="txt"/>
          <p:cNvSpPr txBox="1"/>
          <p:nvPr/>
        </p:nvSpPr>
        <p:spPr>
          <a:xfrm>
            <a:off x="786384" y="65196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C4CF"/>
                </a:solidFill>
                <a:latin typeface="Arial"/>
              </a:rPr>
              <a:t>Права и общие обязанности военнослужащих в РФ</a:t>
            </a:r>
            <a:r>
              <a:rPr sz="900" b="0" i="0">
                <a:solidFill>
                  <a:srgbClr val="6B7B8C"/>
                </a:solidFill>
                <a:latin typeface="Arial"/>
              </a:rPr>
              <a:t>   ·   Личные права</a:t>
            </a:r>
          </a:p>
        </p:txBody>
      </p:sp>
      <p:sp>
        <p:nvSpPr>
          <p:cNvPr id="37" name="txt"/>
          <p:cNvSpPr txBox="1"/>
          <p:nvPr/>
        </p:nvSpPr>
        <p:spPr>
          <a:xfrm>
            <a:off x="10162001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9A3E"/>
                </a:solidFill>
                <a:latin typeface="Arial"/>
              </a:rPr>
              <a:t>08</a:t>
            </a:r>
            <a:r>
              <a:rPr sz="900" b="0" i="0">
                <a:solidFill>
                  <a:srgbClr val="B9C4CF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" name="shape"/>
          <p:cNvSpPr/>
          <p:nvPr/>
        </p:nvSpPr>
        <p:spPr>
          <a:xfrm>
            <a:off x="0" y="0"/>
            <a:ext cx="105156" cy="6858000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4" name="shape"/>
          <p:cNvSpPr/>
          <p:nvPr/>
        </p:nvSpPr>
        <p:spPr>
          <a:xfrm>
            <a:off x="0" y="0"/>
            <a:ext cx="105156" cy="1965960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5" name="txt"/>
          <p:cNvSpPr txBox="1"/>
          <p:nvPr/>
        </p:nvSpPr>
        <p:spPr>
          <a:xfrm>
            <a:off x="10774649" y="365760"/>
            <a:ext cx="8503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7DFE8"/>
                </a:solidFill>
                <a:latin typeface="Arial"/>
              </a:rPr>
              <a:t>09</a:t>
            </a:r>
          </a:p>
        </p:txBody>
      </p:sp>
      <p:sp>
        <p:nvSpPr>
          <p:cNvPr id="6" name="txt"/>
          <p:cNvSpPr txBox="1"/>
          <p:nvPr/>
        </p:nvSpPr>
        <p:spPr>
          <a:xfrm>
            <a:off x="786384" y="41148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B7B8C"/>
                </a:solidFill>
                <a:latin typeface="Arial"/>
              </a:rPr>
              <a:t>ВИДЫ ЮРИДИЧЕСКОЙ ОТВЕТСТВЕННОСТИ</a:t>
            </a:r>
          </a:p>
        </p:txBody>
      </p:sp>
      <p:sp>
        <p:nvSpPr>
          <p:cNvPr id="7" name="txt"/>
          <p:cNvSpPr txBox="1"/>
          <p:nvPr/>
        </p:nvSpPr>
        <p:spPr>
          <a:xfrm>
            <a:off x="786384" y="6583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E2545"/>
                </a:solidFill>
                <a:latin typeface="Arial"/>
              </a:rPr>
              <a:t>Ответственность военнослужащих</a:t>
            </a:r>
          </a:p>
        </p:txBody>
      </p:sp>
      <p:sp>
        <p:nvSpPr>
          <p:cNvPr id="8" name="shape"/>
          <p:cNvSpPr/>
          <p:nvPr/>
        </p:nvSpPr>
        <p:spPr>
          <a:xfrm>
            <a:off x="786384" y="1216152"/>
            <a:ext cx="786384" cy="32918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9" name="shape"/>
          <p:cNvSpPr/>
          <p:nvPr/>
        </p:nvSpPr>
        <p:spPr>
          <a:xfrm>
            <a:off x="1627632" y="1229868"/>
            <a:ext cx="9997409" cy="12801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0" name="txt"/>
          <p:cNvSpPr txBox="1"/>
          <p:nvPr/>
        </p:nvSpPr>
        <p:spPr>
          <a:xfrm>
            <a:off x="786384" y="1481328"/>
            <a:ext cx="1083865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За неисполнение обязанностей военнослужащий отвечает в пределах, установленных уставами, дисциплинарным, административным,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гражданским и уголовным законодательством.</a:t>
            </a:r>
          </a:p>
        </p:txBody>
      </p:sp>
      <p:sp>
        <p:nvSpPr>
          <p:cNvPr id="11" name="card"/>
          <p:cNvSpPr/>
          <p:nvPr/>
        </p:nvSpPr>
        <p:spPr>
          <a:xfrm>
            <a:off x="786384" y="2075688"/>
            <a:ext cx="5309600" cy="2015337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2" name="shape"/>
          <p:cNvSpPr/>
          <p:nvPr/>
        </p:nvSpPr>
        <p:spPr>
          <a:xfrm>
            <a:off x="786384" y="2075688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3" name="txt"/>
          <p:cNvSpPr txBox="1"/>
          <p:nvPr/>
        </p:nvSpPr>
        <p:spPr>
          <a:xfrm>
            <a:off x="978408" y="2249424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Дисциплинарная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1161288" y="2505456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Наступает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дисциплинарный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проступок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невыполнение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приказа,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нарушение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воинской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дисциплины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уставного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порядка.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1161288" y="2874873"/>
            <a:ext cx="474267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Взыскания: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замечание,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выговор,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строгий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выговор,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предупреждение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несоответствии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занимаемой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должности,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штраф,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лишение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нагрудного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знака,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понижение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должности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или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воинском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звании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одну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ступень,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дисциплинарный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арест.</a:t>
            </a:r>
          </a:p>
        </p:txBody>
      </p:sp>
      <p:sp>
        <p:nvSpPr>
          <p:cNvPr id="16" name="txt"/>
          <p:cNvSpPr txBox="1"/>
          <p:nvPr/>
        </p:nvSpPr>
        <p:spPr>
          <a:xfrm>
            <a:off x="1161288" y="3566160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Срок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действия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взыскания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один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год;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возможно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снятие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досрочно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(Дисциплинарный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устав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ВС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РФ).</a:t>
            </a:r>
          </a:p>
        </p:txBody>
      </p:sp>
      <p:sp>
        <p:nvSpPr>
          <p:cNvPr id="17" name="card"/>
          <p:cNvSpPr/>
          <p:nvPr/>
        </p:nvSpPr>
        <p:spPr>
          <a:xfrm>
            <a:off x="6315440" y="2075688"/>
            <a:ext cx="5309600" cy="2015337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8" name="shape"/>
          <p:cNvSpPr/>
          <p:nvPr/>
        </p:nvSpPr>
        <p:spPr>
          <a:xfrm>
            <a:off x="6315440" y="2075688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9" name="txt"/>
          <p:cNvSpPr txBox="1"/>
          <p:nvPr/>
        </p:nvSpPr>
        <p:spPr>
          <a:xfrm>
            <a:off x="6507464" y="2249424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Административная</a:t>
            </a:r>
          </a:p>
        </p:txBody>
      </p:sp>
      <p:sp>
        <p:nvSpPr>
          <p:cNvPr id="20" name="txt"/>
          <p:cNvSpPr txBox="1"/>
          <p:nvPr/>
        </p:nvSpPr>
        <p:spPr>
          <a:xfrm>
            <a:off x="6690344" y="2505456"/>
            <a:ext cx="4742672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административные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правонарушения,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совершённые </a:t>
            </a:r>
            <a:r>
              <a:rPr sz="1080" b="1" i="0">
                <a:solidFill>
                  <a:srgbClr val="1B2A3A"/>
                </a:solidFill>
                <a:latin typeface="Arial"/>
              </a:rPr>
              <a:t>во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B2A3A"/>
                </a:solidFill>
                <a:latin typeface="Arial"/>
              </a:rPr>
              <a:t>внеслужебное </a:t>
            </a:r>
            <a:r>
              <a:rPr sz="1080" b="1" i="0">
                <a:solidFill>
                  <a:srgbClr val="1B2A3A"/>
                </a:solidFill>
                <a:latin typeface="Arial"/>
              </a:rPr>
              <a:t>время </a:t>
            </a:r>
            <a:r>
              <a:rPr sz="1080" b="1" i="0">
                <a:solidFill>
                  <a:srgbClr val="1B2A3A"/>
                </a:solidFill>
                <a:latin typeface="Arial"/>
              </a:rPr>
              <a:t>и </a:t>
            </a:r>
            <a:r>
              <a:rPr sz="1080" b="1" i="0">
                <a:solidFill>
                  <a:srgbClr val="1B2A3A"/>
                </a:solidFill>
                <a:latin typeface="Arial"/>
              </a:rPr>
              <a:t>не </a:t>
            </a:r>
            <a:r>
              <a:rPr sz="1080" b="1" i="0">
                <a:solidFill>
                  <a:srgbClr val="1B2A3A"/>
                </a:solidFill>
                <a:latin typeface="Arial"/>
              </a:rPr>
              <a:t>по </a:t>
            </a:r>
            <a:r>
              <a:rPr sz="1080" b="1" i="0">
                <a:solidFill>
                  <a:srgbClr val="1B2A3A"/>
                </a:solidFill>
                <a:latin typeface="Arial"/>
              </a:rPr>
              <a:t>службе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(например,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гл.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19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КоАП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РФ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воинский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учёт,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режимные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правила).</a:t>
            </a:r>
          </a:p>
        </p:txBody>
      </p:sp>
      <p:sp>
        <p:nvSpPr>
          <p:cNvPr id="21" name="txt"/>
          <p:cNvSpPr txBox="1"/>
          <p:nvPr/>
        </p:nvSpPr>
        <p:spPr>
          <a:xfrm>
            <a:off x="6690344" y="3035808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воинские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проступки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административная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ответственность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применяется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вместо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неё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наступает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дисциплинарная.</a:t>
            </a:r>
          </a:p>
        </p:txBody>
      </p:sp>
      <p:sp>
        <p:nvSpPr>
          <p:cNvPr id="22" name="card"/>
          <p:cNvSpPr/>
          <p:nvPr/>
        </p:nvSpPr>
        <p:spPr>
          <a:xfrm>
            <a:off x="786384" y="4255617"/>
            <a:ext cx="5309600" cy="1854403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3" name="shape"/>
          <p:cNvSpPr/>
          <p:nvPr/>
        </p:nvSpPr>
        <p:spPr>
          <a:xfrm>
            <a:off x="786384" y="4255617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4" name="txt"/>
          <p:cNvSpPr txBox="1"/>
          <p:nvPr/>
        </p:nvSpPr>
        <p:spPr>
          <a:xfrm>
            <a:off x="978408" y="4429353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Материальная и гражданско-правовая</a:t>
            </a:r>
          </a:p>
        </p:txBody>
      </p:sp>
      <p:sp>
        <p:nvSpPr>
          <p:cNvPr id="25" name="txt"/>
          <p:cNvSpPr txBox="1"/>
          <p:nvPr/>
        </p:nvSpPr>
        <p:spPr>
          <a:xfrm>
            <a:off x="1161288" y="4685385"/>
            <a:ext cx="4742672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Материальная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ответственность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ущерб,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причинённый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исполнении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обязанностей,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пределах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прямого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действительного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ущерба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(ФЗ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№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145-ФЗ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12.07.1999).</a:t>
            </a:r>
          </a:p>
        </p:txBody>
      </p:sp>
      <p:sp>
        <p:nvSpPr>
          <p:cNvPr id="26" name="txt"/>
          <p:cNvSpPr txBox="1"/>
          <p:nvPr/>
        </p:nvSpPr>
        <p:spPr>
          <a:xfrm>
            <a:off x="1161288" y="5215737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Полная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материальная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ответственность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случаях,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предусмотренных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законом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(умысел,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состояние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опьянения,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хищение).</a:t>
            </a:r>
          </a:p>
        </p:txBody>
      </p:sp>
      <p:sp>
        <p:nvSpPr>
          <p:cNvPr id="27" name="txt"/>
          <p:cNvSpPr txBox="1"/>
          <p:nvPr/>
        </p:nvSpPr>
        <p:spPr>
          <a:xfrm>
            <a:off x="1161288" y="5585155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Вред,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причинённый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третьим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лицам,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возмещает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воинская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часть,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регресс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виновному.</a:t>
            </a:r>
          </a:p>
        </p:txBody>
      </p:sp>
      <p:sp>
        <p:nvSpPr>
          <p:cNvPr id="28" name="card"/>
          <p:cNvSpPr/>
          <p:nvPr/>
        </p:nvSpPr>
        <p:spPr>
          <a:xfrm>
            <a:off x="6315440" y="4255617"/>
            <a:ext cx="5309600" cy="1854403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9" name="shape"/>
          <p:cNvSpPr/>
          <p:nvPr/>
        </p:nvSpPr>
        <p:spPr>
          <a:xfrm>
            <a:off x="6315440" y="4255617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0" name="txt"/>
          <p:cNvSpPr txBox="1"/>
          <p:nvPr/>
        </p:nvSpPr>
        <p:spPr>
          <a:xfrm>
            <a:off x="6507464" y="4429353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Уголовная</a:t>
            </a:r>
          </a:p>
        </p:txBody>
      </p:sp>
      <p:sp>
        <p:nvSpPr>
          <p:cNvPr id="31" name="txt"/>
          <p:cNvSpPr txBox="1"/>
          <p:nvPr/>
        </p:nvSpPr>
        <p:spPr>
          <a:xfrm>
            <a:off x="6690344" y="4685385"/>
            <a:ext cx="4742672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Преступления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против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1" i="0">
                <a:solidFill>
                  <a:srgbClr val="1B2A3A"/>
                </a:solidFill>
                <a:latin typeface="Arial"/>
              </a:rPr>
              <a:t>глава </a:t>
            </a:r>
            <a:r>
              <a:rPr sz="1080" b="1" i="0">
                <a:solidFill>
                  <a:srgbClr val="1B2A3A"/>
                </a:solidFill>
                <a:latin typeface="Arial"/>
              </a:rPr>
              <a:t>33 </a:t>
            </a:r>
            <a:r>
              <a:rPr sz="1080" b="1" i="0">
                <a:solidFill>
                  <a:srgbClr val="1B2A3A"/>
                </a:solidFill>
                <a:latin typeface="Arial"/>
              </a:rPr>
              <a:t>УК </a:t>
            </a:r>
            <a:r>
              <a:rPr sz="1080" b="1" i="0">
                <a:solidFill>
                  <a:srgbClr val="1B2A3A"/>
                </a:solidFill>
                <a:latin typeface="Arial"/>
              </a:rPr>
              <a:t>РФ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(ст.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331–352.1):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неисполнение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приказа,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сопротивление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начальнику,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самовольное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оставление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части,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дезертирство.</a:t>
            </a:r>
          </a:p>
        </p:txBody>
      </p:sp>
      <p:sp>
        <p:nvSpPr>
          <p:cNvPr id="32" name="txt"/>
          <p:cNvSpPr txBox="1"/>
          <p:nvPr/>
        </p:nvSpPr>
        <p:spPr>
          <a:xfrm>
            <a:off x="6690344" y="5215737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преступления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ответственность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общих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основаниях,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учётом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статуса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военнослужащего.</a:t>
            </a:r>
          </a:p>
        </p:txBody>
      </p:sp>
      <p:sp>
        <p:nvSpPr>
          <p:cNvPr id="33" name="txt"/>
          <p:cNvSpPr txBox="1"/>
          <p:nvPr/>
        </p:nvSpPr>
        <p:spPr>
          <a:xfrm>
            <a:off x="6690344" y="5585155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Смягчение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или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освобождение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ответственности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возможно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добровольном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предотвращении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(пресечении)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правонарушения.</a:t>
            </a:r>
          </a:p>
        </p:txBody>
      </p:sp>
      <p:sp>
        <p:nvSpPr>
          <p:cNvPr id="34" name="shape"/>
          <p:cNvSpPr/>
          <p:nvPr/>
        </p:nvSpPr>
        <p:spPr>
          <a:xfrm>
            <a:off x="786384" y="6428232"/>
            <a:ext cx="10838657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5" name="txt"/>
          <p:cNvSpPr txBox="1"/>
          <p:nvPr/>
        </p:nvSpPr>
        <p:spPr>
          <a:xfrm>
            <a:off x="786384" y="65196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C4CF"/>
                </a:solidFill>
                <a:latin typeface="Arial"/>
              </a:rPr>
              <a:t>Права и общие обязанности военнослужащих в РФ</a:t>
            </a:r>
            <a:r>
              <a:rPr sz="900" b="0" i="0">
                <a:solidFill>
                  <a:srgbClr val="6B7B8C"/>
                </a:solidFill>
                <a:latin typeface="Arial"/>
              </a:rPr>
              <a:t>   ·   Ответственность военнослужащих</a:t>
            </a:r>
          </a:p>
        </p:txBody>
      </p:sp>
      <p:sp>
        <p:nvSpPr>
          <p:cNvPr id="36" name="txt"/>
          <p:cNvSpPr txBox="1"/>
          <p:nvPr/>
        </p:nvSpPr>
        <p:spPr>
          <a:xfrm>
            <a:off x="10162001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9A3E"/>
                </a:solidFill>
                <a:latin typeface="Arial"/>
              </a:rPr>
              <a:t>09</a:t>
            </a:r>
            <a:r>
              <a:rPr sz="900" b="0" i="0">
                <a:solidFill>
                  <a:srgbClr val="B9C4CF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" name="shape"/>
          <p:cNvSpPr/>
          <p:nvPr/>
        </p:nvSpPr>
        <p:spPr>
          <a:xfrm>
            <a:off x="0" y="0"/>
            <a:ext cx="105156" cy="6858000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4" name="shape"/>
          <p:cNvSpPr/>
          <p:nvPr/>
        </p:nvSpPr>
        <p:spPr>
          <a:xfrm>
            <a:off x="0" y="0"/>
            <a:ext cx="105156" cy="1965960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5" name="txt"/>
          <p:cNvSpPr txBox="1"/>
          <p:nvPr/>
        </p:nvSpPr>
        <p:spPr>
          <a:xfrm>
            <a:off x="10774649" y="365760"/>
            <a:ext cx="8503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7DFE8"/>
                </a:solidFill>
                <a:latin typeface="Arial"/>
              </a:rPr>
              <a:t>10</a:t>
            </a:r>
          </a:p>
        </p:txBody>
      </p:sp>
      <p:sp>
        <p:nvSpPr>
          <p:cNvPr id="6" name="txt"/>
          <p:cNvSpPr txBox="1"/>
          <p:nvPr/>
        </p:nvSpPr>
        <p:spPr>
          <a:xfrm>
            <a:off x="786384" y="41148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B7B8C"/>
                </a:solidFill>
                <a:latin typeface="Arial"/>
              </a:rPr>
              <a:t>ИТОГИ</a:t>
            </a:r>
          </a:p>
        </p:txBody>
      </p:sp>
      <p:sp>
        <p:nvSpPr>
          <p:cNvPr id="7" name="txt"/>
          <p:cNvSpPr txBox="1"/>
          <p:nvPr/>
        </p:nvSpPr>
        <p:spPr>
          <a:xfrm>
            <a:off x="786384" y="6583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E2545"/>
                </a:solidFill>
                <a:latin typeface="Arial"/>
              </a:rPr>
              <a:t>Заключение</a:t>
            </a:r>
          </a:p>
        </p:txBody>
      </p:sp>
      <p:sp>
        <p:nvSpPr>
          <p:cNvPr id="8" name="shape"/>
          <p:cNvSpPr/>
          <p:nvPr/>
        </p:nvSpPr>
        <p:spPr>
          <a:xfrm>
            <a:off x="786384" y="1216152"/>
            <a:ext cx="786384" cy="32918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9" name="shape"/>
          <p:cNvSpPr/>
          <p:nvPr/>
        </p:nvSpPr>
        <p:spPr>
          <a:xfrm>
            <a:off x="1627632" y="1229868"/>
            <a:ext cx="9997409" cy="12801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0" name="txt"/>
          <p:cNvSpPr txBox="1"/>
          <p:nvPr/>
        </p:nvSpPr>
        <p:spPr>
          <a:xfrm>
            <a:off x="786384" y="1481328"/>
            <a:ext cx="1083865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Статус военнослужащего строится на единстве обязанностей и прав: государство требует готовности защищать Отечество и взамен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45364"/>
                </a:solidFill>
                <a:latin typeface="Arial"/>
              </a:rPr>
              <a:t>гарантирует защиту самому военнослужащему и его семье.</a:t>
            </a:r>
          </a:p>
        </p:txBody>
      </p:sp>
      <p:sp>
        <p:nvSpPr>
          <p:cNvPr id="11" name="card"/>
          <p:cNvSpPr/>
          <p:nvPr/>
        </p:nvSpPr>
        <p:spPr>
          <a:xfrm>
            <a:off x="786384" y="2075688"/>
            <a:ext cx="5309600" cy="1299584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2" name="shape"/>
          <p:cNvSpPr/>
          <p:nvPr/>
        </p:nvSpPr>
        <p:spPr>
          <a:xfrm>
            <a:off x="786384" y="2075688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3" name="txt"/>
          <p:cNvSpPr txBox="1"/>
          <p:nvPr/>
        </p:nvSpPr>
        <p:spPr>
          <a:xfrm>
            <a:off x="978408" y="2249424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Баланс — основа боеспособности</a:t>
            </a:r>
          </a:p>
        </p:txBody>
      </p:sp>
      <p:sp>
        <p:nvSpPr>
          <p:cNvPr id="14" name="txt"/>
          <p:cNvSpPr txBox="1"/>
          <p:nvPr/>
        </p:nvSpPr>
        <p:spPr>
          <a:xfrm>
            <a:off x="1161288" y="2505456"/>
            <a:ext cx="4742672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Права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создают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условия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для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(довольствие,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жильё,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медицина,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отдых),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обязанности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формируют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единую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волю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готовность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подразделения.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1161288" y="3035808"/>
            <a:ext cx="4742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Искажение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любой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частей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—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ослабление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Вооружённых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Сил.</a:t>
            </a:r>
          </a:p>
        </p:txBody>
      </p:sp>
      <p:sp>
        <p:nvSpPr>
          <p:cNvPr id="16" name="card"/>
          <p:cNvSpPr/>
          <p:nvPr/>
        </p:nvSpPr>
        <p:spPr>
          <a:xfrm>
            <a:off x="6315440" y="2075688"/>
            <a:ext cx="5309600" cy="1299584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7" name="shape"/>
          <p:cNvSpPr/>
          <p:nvPr/>
        </p:nvSpPr>
        <p:spPr>
          <a:xfrm>
            <a:off x="6315440" y="2075688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18" name="txt"/>
          <p:cNvSpPr txBox="1"/>
          <p:nvPr/>
        </p:nvSpPr>
        <p:spPr>
          <a:xfrm>
            <a:off x="6507464" y="2249424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Обязанности действуют непрерывно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6690344" y="2505456"/>
            <a:ext cx="4742672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Общие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обязанности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закреплены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уставами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ограничены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рамками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служебного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времени: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они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охватывают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поведение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внеслужебное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время.</a:t>
            </a:r>
          </a:p>
        </p:txBody>
      </p:sp>
      <p:sp>
        <p:nvSpPr>
          <p:cNvPr id="20" name="txt"/>
          <p:cNvSpPr txBox="1"/>
          <p:nvPr/>
        </p:nvSpPr>
        <p:spPr>
          <a:xfrm>
            <a:off x="6690344" y="3035808"/>
            <a:ext cx="4742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Должностные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специальные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обязанности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конкретизируют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общие.</a:t>
            </a:r>
          </a:p>
        </p:txBody>
      </p:sp>
      <p:sp>
        <p:nvSpPr>
          <p:cNvPr id="21" name="card"/>
          <p:cNvSpPr/>
          <p:nvPr/>
        </p:nvSpPr>
        <p:spPr>
          <a:xfrm>
            <a:off x="786384" y="3539864"/>
            <a:ext cx="5309600" cy="1299584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2" name="shape"/>
          <p:cNvSpPr/>
          <p:nvPr/>
        </p:nvSpPr>
        <p:spPr>
          <a:xfrm>
            <a:off x="786384" y="3539864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3" name="txt"/>
          <p:cNvSpPr txBox="1"/>
          <p:nvPr/>
        </p:nvSpPr>
        <p:spPr>
          <a:xfrm>
            <a:off x="978408" y="3713600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Ограничения законны, а не произвольны</a:t>
            </a:r>
          </a:p>
        </p:txBody>
      </p:sp>
      <p:sp>
        <p:nvSpPr>
          <p:cNvPr id="24" name="txt"/>
          <p:cNvSpPr txBox="1"/>
          <p:nvPr/>
        </p:nvSpPr>
        <p:spPr>
          <a:xfrm>
            <a:off x="1161288" y="3969632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Политические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иные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ограничения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установлены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федеральным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законом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вытекают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из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специфики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службы.</a:t>
            </a:r>
          </a:p>
        </p:txBody>
      </p:sp>
      <p:sp>
        <p:nvSpPr>
          <p:cNvPr id="25" name="txt"/>
          <p:cNvSpPr txBox="1"/>
          <p:nvPr/>
        </p:nvSpPr>
        <p:spPr>
          <a:xfrm>
            <a:off x="1161288" y="4339050"/>
            <a:ext cx="4742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Командиры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вправе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расширять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ограничения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своему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усмотрению.</a:t>
            </a:r>
          </a:p>
        </p:txBody>
      </p:sp>
      <p:sp>
        <p:nvSpPr>
          <p:cNvPr id="26" name="card"/>
          <p:cNvSpPr/>
          <p:nvPr/>
        </p:nvSpPr>
        <p:spPr>
          <a:xfrm>
            <a:off x="6315440" y="3539864"/>
            <a:ext cx="5309600" cy="1299584"/>
          </a:xfrm>
          <a:prstGeom prst="rect">
            <a:avLst/>
          </a:prstGeom>
          <a:solidFill>
            <a:srgbClr val="F3F6F9"/>
          </a:solidFill>
          <a:ln w="952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7" name="shape"/>
          <p:cNvSpPr/>
          <p:nvPr/>
        </p:nvSpPr>
        <p:spPr>
          <a:xfrm>
            <a:off x="6315440" y="3539864"/>
            <a:ext cx="5309600" cy="128016"/>
          </a:xfrm>
          <a:prstGeom prst="rect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28" name="txt"/>
          <p:cNvSpPr txBox="1"/>
          <p:nvPr/>
        </p:nvSpPr>
        <p:spPr>
          <a:xfrm>
            <a:off x="6507464" y="3713600"/>
            <a:ext cx="4925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545"/>
                </a:solidFill>
                <a:latin typeface="Arial"/>
              </a:rPr>
              <a:t>Ответственность персональна</a:t>
            </a:r>
          </a:p>
        </p:txBody>
      </p:sp>
      <p:sp>
        <p:nvSpPr>
          <p:cNvPr id="29" name="txt"/>
          <p:cNvSpPr txBox="1"/>
          <p:nvPr/>
        </p:nvSpPr>
        <p:spPr>
          <a:xfrm>
            <a:off x="6690344" y="3969632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Дисциплинарная,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административная,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материальная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уголовная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ответственность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наступает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лично.</a:t>
            </a:r>
          </a:p>
        </p:txBody>
      </p:sp>
      <p:sp>
        <p:nvSpPr>
          <p:cNvPr id="30" name="txt"/>
          <p:cNvSpPr txBox="1"/>
          <p:nvPr/>
        </p:nvSpPr>
        <p:spPr>
          <a:xfrm>
            <a:off x="6690344" y="4339050"/>
            <a:ext cx="4742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29A3E"/>
                </a:solidFill>
                <a:latin typeface="Arial"/>
              </a:rPr>
              <a:t>— 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Незаконность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приказа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превышение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пределов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его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исполнения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45364"/>
                </a:solidFill>
                <a:latin typeface="Arial"/>
              </a:rPr>
              <a:t>оцениваются </a:t>
            </a:r>
            <a:r>
              <a:rPr sz="1080" b="0" i="0">
                <a:solidFill>
                  <a:srgbClr val="445364"/>
                </a:solidFill>
                <a:latin typeface="Arial"/>
              </a:rPr>
              <a:t>судом.</a:t>
            </a:r>
          </a:p>
        </p:txBody>
      </p:sp>
      <p:sp>
        <p:nvSpPr>
          <p:cNvPr id="31" name="note"/>
          <p:cNvSpPr/>
          <p:nvPr/>
        </p:nvSpPr>
        <p:spPr>
          <a:xfrm>
            <a:off x="786384" y="5040616"/>
            <a:ext cx="10838657" cy="598170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2" name="shape"/>
          <p:cNvSpPr/>
          <p:nvPr/>
        </p:nvSpPr>
        <p:spPr>
          <a:xfrm>
            <a:off x="786384" y="5040616"/>
            <a:ext cx="50292" cy="598170"/>
          </a:xfrm>
          <a:prstGeom prst="rect">
            <a:avLst/>
          </a:prstGeom>
          <a:solidFill>
            <a:srgbClr val="C2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3" name="txt"/>
          <p:cNvSpPr txBox="1"/>
          <p:nvPr/>
        </p:nvSpPr>
        <p:spPr>
          <a:xfrm>
            <a:off x="1060704" y="5150344"/>
            <a:ext cx="10290017" cy="5981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80">
                <a:solidFill>
                  <a:srgbClr val="0E2545"/>
                </a:solidFill>
                <a:latin typeface="Arial"/>
              </a:rPr>
              <a:t>КЛЮЧЕВОЕ ПРАВИЛО</a:t>
            </a:r>
            <a:r>
              <a:rPr sz="1050" b="0" i="0">
                <a:solidFill>
                  <a:srgbClr val="0E2545"/>
                </a:solidFill>
                <a:latin typeface="Arial"/>
              </a:rPr>
              <a:t>     </a:t>
            </a:r>
            <a:r>
              <a:rPr sz="1050" b="0" i="0">
                <a:solidFill>
                  <a:srgbClr val="445364"/>
                </a:solidFill>
                <a:latin typeface="Arial"/>
              </a:rPr>
              <a:t>нослужащий не вправе требовать реализации своего права в ущерб исполнению обязанностей военной службы; равно как 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5364"/>
                </a:solidFill>
                <a:latin typeface="Arial"/>
              </a:rPr>
              <a:t>командир не вправе требовать действий, выходящих за рамки закона и уставов.</a:t>
            </a:r>
          </a:p>
        </p:txBody>
      </p:sp>
      <p:sp>
        <p:nvSpPr>
          <p:cNvPr id="34" name="txt"/>
          <p:cNvSpPr txBox="1"/>
          <p:nvPr/>
        </p:nvSpPr>
        <p:spPr>
          <a:xfrm>
            <a:off x="786384" y="5766802"/>
            <a:ext cx="1083865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B8C"/>
                </a:solidFill>
                <a:latin typeface="Arial"/>
              </a:rPr>
              <a:t>Источники: Конституция РФ; Федеральный закон от 27.05.1998 № 76-ФЗ «О статусе военнослужащих»; Устав внутренней службы, Дисциплинарный устав, Устав гарнизонной 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B8C"/>
                </a:solidFill>
                <a:latin typeface="Arial"/>
              </a:rPr>
              <a:t>караульной служб ВС РФ (Указ Президента РФ от 10.11.2007 № 1495); УК РФ; КоАП РФ.</a:t>
            </a:r>
          </a:p>
        </p:txBody>
      </p:sp>
      <p:sp>
        <p:nvSpPr>
          <p:cNvPr id="35" name="shape"/>
          <p:cNvSpPr/>
          <p:nvPr/>
        </p:nvSpPr>
        <p:spPr>
          <a:xfrm>
            <a:off x="786384" y="6428232"/>
            <a:ext cx="10838657" cy="10972"/>
          </a:xfrm>
          <a:prstGeom prst="rect">
            <a:avLst/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</a:p>
        </p:txBody>
      </p:sp>
      <p:sp>
        <p:nvSpPr>
          <p:cNvPr id="36" name="txt"/>
          <p:cNvSpPr txBox="1"/>
          <p:nvPr/>
        </p:nvSpPr>
        <p:spPr>
          <a:xfrm>
            <a:off x="786384" y="65196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C4CF"/>
                </a:solidFill>
                <a:latin typeface="Arial"/>
              </a:rPr>
              <a:t>Права и общие обязанности военнослужащих в РФ</a:t>
            </a:r>
            <a:r>
              <a:rPr sz="900" b="0" i="0">
                <a:solidFill>
                  <a:srgbClr val="6B7B8C"/>
                </a:solidFill>
                <a:latin typeface="Arial"/>
              </a:rPr>
              <a:t>   ·   Заключение</a:t>
            </a:r>
          </a:p>
        </p:txBody>
      </p:sp>
      <p:sp>
        <p:nvSpPr>
          <p:cNvPr id="37" name="txt"/>
          <p:cNvSpPr txBox="1"/>
          <p:nvPr/>
        </p:nvSpPr>
        <p:spPr>
          <a:xfrm>
            <a:off x="10162001" y="65196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9A3E"/>
                </a:solidFill>
                <a:latin typeface="Arial"/>
              </a:rPr>
              <a:t>10</a:t>
            </a:r>
            <a:r>
              <a:rPr sz="900" b="0" i="0">
                <a:solidFill>
                  <a:srgbClr val="B9C4CF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